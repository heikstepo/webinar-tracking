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</p:sldIdLst>
  <p:notesMasterIdLst>
    <p:notesMasterId r:id="rId16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notesMaster" Target="notesMasters/notesMaster1.xml"/><Relationship Id="rId164" Type="http://schemas.openxmlformats.org/officeDocument/2006/relationships/presProps" Target="presProps.xml"/><Relationship Id="rId165" Type="http://schemas.openxmlformats.org/officeDocument/2006/relationships/viewProps" Target="viewProps.xml"/><Relationship Id="rId166" Type="http://schemas.openxmlformats.org/officeDocument/2006/relationships/theme" Target="theme/theme1.xml"/><Relationship Id="rId1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
Last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7276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-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7498080" cy="1448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Based Ranges Academy.</a:t>
            </a:r>
            <a:endParaRPr lang="en-US"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Academy is the 1on1 mentorship program I built to walk you through this entire process…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Based Ranges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Academy is the 1on1 mentorship program I built to walk you through this entire process…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help you become a consistently profitable, funded trader.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actually guarantee that, so there's zero risk on your end.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2824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get to that in a second.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before that, let me explain exactly how the whole thing works.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be really clear about what this is and what it isn't.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course.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course.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6208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some Discord where you get dropped in and left to watch videos on your own.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7436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hands-on mentorship.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7436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hands-on mentorship.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89200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personally taking you through all of it, and making sure you can execute the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consistently and profitably.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how does the TBR Academy actually work?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how does the TBR Academy actually work?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06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-week intensive bootcamp…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touch anything, we get on a call together.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where you're actually at…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want to see where you're actually at…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770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you're trading now, what account you're on, how much time you've got in the morning, and what's been going wrong.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there I’ll identify and help you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“unlearn”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stuff that’s been holding you back…</a:t>
            </a:r>
            <a:endParaRPr 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map it out the plan for the next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come off that call knowing exactly what you're doing tomorrow morning.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434590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the ranges I can't put online.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you're in, you get all of it.</a:t>
            </a:r>
            <a:endParaRPr lang="en-US" sz="3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you're in, you get all of it.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466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time based range I trade, not just the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 gave you today.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NDA I mentioned, you sign it, and then you're sat at the same windows I'm sat at every morning.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also get the full A-Z model course.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and framework, reading context and bias,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liquidity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market structure, and putting it all together.</a:t>
            </a:r>
            <a:endParaRPr lang="en-US" sz="3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532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Revealing Of The Veil, which is the deeper framework side of it, and the workbooks that go with every module.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there's nothing I'm holding back from you.</a:t>
            </a:r>
            <a:endParaRPr lang="en-US" sz="3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there's nothing I'm holding back from you.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1912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what I use.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361438"/>
            <a:ext cx="0" cy="42062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0141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2644902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262204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trading sessions with me, every single week.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mornings a week, I'm live, on my own account, in front of you.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watching me mark the range, wait for the break, and take the entry while it's actually happening.</a:t>
            </a:r>
            <a:endParaRPr lang="en-US" sz="3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super valuable…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super valuable…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817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learn to time something from a video.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learn it by watching somebody do it live, over and over.</a:t>
            </a:r>
            <a:endParaRPr lang="en-US" sz="3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times a week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for 12 weeks, that's 36 mornings of watching this get traded in real time.</a:t>
            </a:r>
            <a:endParaRPr lang="en-US" sz="3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151126"/>
            <a:ext cx="0" cy="84124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99110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2855214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83235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we go through everything that happened that week.</a:t>
            </a:r>
            <a:endParaRPr lang="en-US" sz="3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trades you took, the trades you missed, the ones you weren't sure about.</a:t>
            </a:r>
            <a:endParaRPr lang="en-US" sz="3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bring your charts, we put them up, and we go through them properly.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you're not just learning from your own week.</a:t>
            </a:r>
            <a:endParaRPr lang="en-US" sz="3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you're not just learning from your own week.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in a room with people running the exact same model…</a:t>
            </a:r>
            <a:endParaRPr lang="en-US" sz="3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you're seeing the same mistakes and the same wins from multiple different angles instead of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940814"/>
            <a:ext cx="0" cy="126187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78079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20141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62204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065526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304266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3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community isn't a dead Discord full of people posting rocket emojis.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community isn't a dead Discord full of people posting rocket emojis.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traders running this model right now, every morning, together.</a:t>
            </a:r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week I post my blueprint for the week ahead, so you know what I'm watching before the week starts.</a:t>
            </a:r>
            <a:endParaRPr lang="en-US" sz="3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532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my market commentaries throughout, so when something unusual happens you're not sat there guessing what it meant.</a:t>
            </a:r>
            <a:endParaRPr lang="en-US" sz="3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730502"/>
            <a:ext cx="0" cy="1682496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57048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99110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83235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275838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325297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753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everything I've just walked you through…</a:t>
            </a:r>
            <a:endParaRPr lang="en-US" sz="2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753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everything I've just walked you through…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96112" y="218414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6506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model with every range I trade.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753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everything I've just walked you through…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96112" y="218414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6506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2879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6115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sessions a week.</a:t>
            </a:r>
            <a:endParaRPr lang="en-US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753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everything I've just walked you through…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96112" y="218414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6506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2879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6115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sessions a week.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47345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05810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coaching.</a:t>
            </a:r>
            <a:endParaRPr lang="en-US" sz="2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75334"/>
            <a:ext cx="749808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everything I've just walked you through…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96112" y="2184146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16506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model with every range I trade.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2879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6115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sessions a week.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47345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05810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weekly coaching.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96112" y="411810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50462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community.</a:t>
            </a:r>
            <a:endParaRPr lang="en-US" sz="2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already an enormous amount of support.</a:t>
            </a:r>
            <a:endParaRPr lang="en-US" sz="3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most of the students I showed you at the start of today?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most of the students I showed you at the start of today?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had exactly that, and nothing else, and they still got those results.</a:t>
            </a:r>
            <a:endParaRPr lang="en-US" sz="2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since you're here with me LIVE right now…</a:t>
            </a:r>
            <a:endParaRPr lang="en-US" sz="3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since you're here with me LIVE right now…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decided to add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bonuses on top of it.</a:t>
            </a:r>
            <a:endParaRPr lang="en-US" sz="3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52650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I'm doing it this way on purpose, because every one of these solves a specific problem I already know you're going to run into.</a:t>
            </a:r>
            <a:endParaRPr lang="en-US" sz="2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</a:t>
            </a:r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months with me FOR FREE.</a:t>
            </a:r>
            <a:endParaRPr lang="en-US" sz="4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don’t get me wrong…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enough to make you good at this.</a:t>
            </a:r>
            <a:endParaRPr lang="en-US" sz="3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don’t get me wrong…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weeks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enough to make you good at this.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150616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I've seen it happen over and over.</a:t>
            </a:r>
            <a:endParaRPr lang="en-US" sz="3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week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also exactly where some traders start doing well and immediately get in their own way.</a:t>
            </a:r>
            <a:endParaRPr lang="en-US" sz="3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55800"/>
            <a:ext cx="749808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a couple of green weeks, you start sizing up, and that's the point where you either go full time or keep struggling with inconsistency.</a:t>
            </a:r>
            <a:endParaRPr lang="en-US" sz="2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you're in today, you don't stop at week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85392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you're in today, you don't stop at week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8176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another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me on the other side of it, while you're actually scaling.</a:t>
            </a:r>
            <a:endParaRPr lang="en-US" sz="2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coaching, the live sessions, the community, all of it continues.</a:t>
            </a:r>
            <a:endParaRPr lang="en-US" sz="3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520190"/>
            <a:ext cx="0" cy="2103120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2875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7447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36017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36017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78079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220141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62204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11124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15696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304266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3486150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34632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148840" y="346329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- 3 extra months with me FOR FREE.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pay for your first prop firm challenge myself.</a:t>
            </a:r>
            <a:endParaRPr lang="en-US" sz="4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everybody comes to me wanting a funded account…</a:t>
            </a:r>
            <a:endParaRPr lang="en-US" sz="3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Almost everybody comes to me wanting a funded account…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almost everybody has the same story.</a:t>
            </a:r>
            <a:endParaRPr lang="en-US" sz="3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paid for a challenge before they were ready, they failed it on day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they paid again.</a:t>
            </a:r>
            <a:endParaRPr lang="en-US" sz="3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paid for a challenge before they were ready, they failed it on day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they paid again.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7108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again.</a:t>
            </a:r>
            <a:endParaRPr lang="en-US" sz="36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hundred dollars a go, and every failed one makes you a bit more scared of the next.</a:t>
            </a:r>
            <a:endParaRPr lang="en-US" sz="3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809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we do it differently.</a:t>
            </a:r>
            <a:endParaRPr lang="en-US" sz="46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touch a challenge until I say you're ready for one.</a:t>
            </a:r>
            <a:endParaRPr lang="en-US" sz="3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9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I do say it, I pay for it.</a:t>
            </a:r>
            <a:endParaRPr lang="en-US" sz="36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932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I do say it, I pay for it.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6715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my own pocket.</a:t>
            </a:r>
            <a:endParaRPr lang="en-US" sz="4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if I'm telling you you're ready, I should be the one taking the risk on that, not you.</a:t>
            </a:r>
            <a:endParaRPr lang="en-US" sz="3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309878"/>
            <a:ext cx="0" cy="2523744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14985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57048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99110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283235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325297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- 3 extra months with me FOR FREE.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3696462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2: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148840" y="367360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pay for your first prop firm challenge myself.</a:t>
            </a:r>
            <a:endParaRPr lang="en-US" sz="13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3: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125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1on1 DM access to me.</a:t>
            </a:r>
            <a:endParaRPr lang="en-US" sz="4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809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whole program.</a:t>
            </a:r>
            <a:endParaRPr lang="en-US" sz="4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the feeling of taking a trade and then sitting there afterwards not sure whether you actually did it right?</a:t>
            </a:r>
            <a:endParaRPr lang="en-US" sz="3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or red, it doesn't matter, you genuinely can't tell if you followed the model or got away with it.</a:t>
            </a:r>
            <a:endParaRPr lang="en-US" sz="3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the thing that keeps people stuck for years, because you can't fix something you can't see.</a:t>
            </a:r>
            <a:endParaRPr lang="en-US" sz="3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send it to me.</a:t>
            </a:r>
            <a:endParaRPr lang="en-US" sz="3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0035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you send it to me.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78176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chart, what you did, why you did it.</a:t>
            </a:r>
            <a:endParaRPr lang="en-US" sz="3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I'll tell you what actually happened, which is usually not what you thought happened.</a:t>
            </a:r>
            <a:endParaRPr lang="en-US" sz="3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189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mean me.</a:t>
            </a:r>
            <a:endParaRPr lang="en-US" sz="4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189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mean me.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chatbot, not a coach I hired.</a:t>
            </a:r>
            <a:endParaRPr lang="en-US" sz="3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1892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mean me.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chatbot, not a coach I hired.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Me.</a:t>
            </a:r>
            <a:endParaRPr lang="en-US" sz="4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9566"/>
            <a:ext cx="0" cy="2944368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0812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5384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93954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93954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2875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47447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36017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36017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84937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89509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178079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78079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26999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31571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220141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20141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69062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73634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62204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262204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11124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15696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304266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304266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- 3 extra months with me FOR FREE.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53187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57759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46329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346329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pay for your first prop firm challenge myself.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" y="3906774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4400" y="388391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3: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2148840" y="388391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1on1 DM access to me.</a:t>
            </a:r>
            <a:endParaRPr lang="en-US" sz="13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the one I've saved for last.</a:t>
            </a:r>
            <a:endParaRPr lang="en-US" sz="3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31848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now the one I've saved for last.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466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this is the one that makes the biggest difference by a mile.</a:t>
            </a:r>
            <a:endParaRPr lang="en-US" sz="3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813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4: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weekly 1on1 calls with me</a:t>
            </a:r>
            <a:endParaRPr lang="en-US" sz="4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625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in this industry loves the words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 on 1"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625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in this industry loves the words </a:t>
            </a:r>
            <a:pPr indent="0" marL="0">
              <a:buNone/>
            </a:pPr>
            <a:r>
              <a:rPr lang="en-US" sz="28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 on 1"</a:t>
            </a:r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9042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it turns out to be a call with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 on it where you might get to ask one question if you're quick enough.</a:t>
            </a:r>
            <a:endParaRPr lang="en-US" sz="25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380996"/>
            <a:ext cx="7498080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not what this is.</a:t>
            </a:r>
            <a:endParaRPr lang="en-US" sz="4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first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months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every 2 weeks you and I get on a call.</a:t>
            </a:r>
            <a:endParaRPr lang="en-US" sz="3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go through your last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properly.</a:t>
            </a:r>
            <a:endParaRPr lang="en-US" sz="36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took, what you skipped, where your sizing is, what's actually stopping you from moving forward.</a:t>
            </a:r>
            <a:endParaRPr lang="en-US" sz="32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then you leave that call knowing exactly what you're working on for the next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weeks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6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live sessions.</a:t>
            </a:r>
            <a:endParaRPr lang="en-US" sz="36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6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live sessions.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392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weekly coaching.</a:t>
            </a:r>
            <a:endParaRPr lang="en-US" sz="3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61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live sessions.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3926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the weekly coaching.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1708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top of being able to message me whenever you want.</a:t>
            </a:r>
            <a:endParaRPr lang="en-US" sz="3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it this way because I wanted it to be genuinely unreasonable for you not to make it.</a:t>
            </a:r>
            <a:endParaRPr lang="en-US" sz="3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889254"/>
            <a:ext cx="0" cy="336499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9781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84353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72923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72923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14985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57048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199110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283235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- 3 extra months with me FOR FREE.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325297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pay for your first prop firm challenge myself.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74218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378790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3: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367360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1on1 DM access to me.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4117086"/>
            <a:ext cx="274320" cy="27432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14400" y="409422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4: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2148840" y="409422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weekly 1on1 calls with me</a:t>
            </a:r>
            <a:endParaRPr lang="en-US" sz="13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Now, here's the part I said we'd come back to… the guarantee.</a:t>
            </a:r>
            <a:endParaRPr lang="en-US" sz="3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52650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go through the </a:t>
            </a:r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months</a:t>
            </a:r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me and you're still not consistently profitable, and you still haven't passed a prop firm challenge…</a:t>
            </a:r>
            <a:endParaRPr lang="en-US" sz="25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working with you.</a:t>
            </a:r>
            <a:endParaRPr lang="en-US" sz="36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working with you.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208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Personally.</a:t>
            </a:r>
            <a:endParaRPr lang="en-US" sz="36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working with you.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208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986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free.</a:t>
            </a:r>
            <a:endParaRPr lang="en-US" sz="36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300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keep working with you.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2082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Personally.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9864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free.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7647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you're funded.</a:t>
            </a:r>
            <a:endParaRPr lang="en-US" sz="36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81784"/>
            <a:ext cx="749808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 want to tell you why I can offer that, because a guarantee this strong usually makes people suspicious, and it should.</a:t>
            </a:r>
            <a:endParaRPr lang="en-US" sz="28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because I'm not letting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 in.</a:t>
            </a:r>
            <a:endParaRPr lang="en-US" sz="36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8191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on the live sessions.</a:t>
            </a:r>
            <a:endParaRPr lang="en-US" sz="36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8191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on the live sessions.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on your 1on1 calls.</a:t>
            </a:r>
            <a:endParaRPr lang="en-US" sz="36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81912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on the live sessions.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on your 1on1 calls.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the one answering your DMs.</a:t>
            </a:r>
            <a:endParaRPr lang="en-US" sz="36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hard limit on how many people I can do that for…</a:t>
            </a:r>
            <a:endParaRPr lang="en-US" sz="36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because there is, I can afford to add that guarantee and all the bonuses for free.</a:t>
            </a:r>
            <a:endParaRPr lang="en-US" sz="32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brings me to the last thing I need to be straight with you about.</a:t>
            </a:r>
            <a:endParaRPr lang="en-US" sz="3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hundreds of you here right now.</a:t>
            </a:r>
            <a:endParaRPr lang="en-US" sz="36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517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everything I just added on top…</a:t>
            </a:r>
            <a:endParaRPr lang="en-US" sz="28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517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everything I just added on top…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220776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4012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months.</a:t>
            </a:r>
            <a:endParaRPr lang="en-US" sz="22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517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everything I just added on top…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220776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4012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months.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5242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84780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paying for your challenge.</a:t>
            </a:r>
            <a:endParaRPr lang="en-US" sz="22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517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everything I just added on top…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220776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4012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months.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5242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84780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paying for your challenge.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49707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29432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unlimited DM access.</a:t>
            </a:r>
            <a:endParaRPr lang="en-US" sz="2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251712"/>
            <a:ext cx="7498080" cy="44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everything I just added on top…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96112" y="2207768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040128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 months.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96112" y="2852420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684780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paying for your challenge.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96112" y="3497072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329432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unlimited DM access.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96112" y="4141724"/>
            <a:ext cx="73152" cy="73152"/>
          </a:xfrm>
          <a:prstGeom prst="ellipse">
            <a:avLst/>
          </a:prstGeom>
          <a:solidFill>
            <a:srgbClr val="C9C9C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3974084"/>
            <a:ext cx="71780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1on1 calls.</a:t>
            </a:r>
            <a:endParaRPr lang="en-US" sz="2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bonuses only apply to the first 10 people who join.</a:t>
            </a:r>
            <a:endParaRPr lang="en-US" sz="36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5783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reason is simple.</a:t>
            </a:r>
            <a:endParaRPr lang="en-US" sz="4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57832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reason is simple.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bonuses are all me.</a:t>
            </a:r>
            <a:endParaRPr lang="en-US" sz="4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time, personally, every week.</a:t>
            </a:r>
            <a:endParaRPr lang="en-US" sz="36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give that to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 properly.</a:t>
            </a:r>
            <a:endParaRPr lang="en-US" sz="3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50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give that to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people properly.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94712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cannot give it to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I'm not going to pretend otherwise and do a bad job of it.</a:t>
            </a:r>
            <a:endParaRPr lang="en-US" sz="32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once those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spots go, and they will go, the bonuses come off.</a:t>
            </a:r>
            <a:endParaRPr lang="en-US" sz="32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program still exists.</a:t>
            </a:r>
            <a:endParaRPr lang="en-US" sz="36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48384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program still exists.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6208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still get the model, the ranges, the live sessions, the coaching, the community.</a:t>
            </a:r>
            <a:endParaRPr lang="en-US" sz="32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5328"/>
            <a:ext cx="7498080" cy="201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the level of personal access I'm offering today together with the guarantee won’t be on the table anymore.</a:t>
            </a:r>
            <a:endParaRPr lang="en-US" sz="3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here's what I want you to do right now.</a:t>
            </a:r>
            <a:endParaRPr lang="en-US" sz="36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239264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chat you'll see a link to the </a:t>
            </a:r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TBR</a:t>
            </a:r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Academy application.</a:t>
            </a:r>
            <a:endParaRPr lang="en-US" sz="3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45973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it, it takes about </a:t>
            </a:r>
            <a:pPr indent="0" marL="0">
              <a:buNone/>
            </a:pPr>
            <a:r>
              <a:rPr lang="en-US" sz="36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minutes</a:t>
            </a:r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6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52650"/>
            <a:ext cx="749808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just a few questions about where you are right now and what you're trying to get to, so we've got some context before we speak.</a:t>
            </a:r>
            <a:endParaRPr lang="en-US" sz="25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step is booking a call with me or one of my team.</a:t>
            </a:r>
            <a:endParaRPr lang="en-US" sz="36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to be clear, this isn't a high-pressure sales call.</a:t>
            </a:r>
            <a:endParaRPr lang="en-US" sz="28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05864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to be clear, this isn't a high-pressure sales call.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881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working with you personally, so I have to be selective about who comes in.</a:t>
            </a:r>
            <a:endParaRPr lang="en-US" sz="28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look at your situation and work out whether this is actually right for you.</a:t>
            </a:r>
            <a:endParaRPr lang="en-US" sz="32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is, we'll get you started immediately.</a:t>
            </a:r>
            <a:endParaRPr lang="en-US" sz="32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79880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is, we'll get you started immediately.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98648"/>
            <a:ext cx="7498080" cy="100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isn't, we'll tell you that too, and there's no hard feelings.</a:t>
            </a:r>
            <a:endParaRPr lang="en-US" sz="3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76272"/>
            <a:ext cx="749808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go ahead, the link is right there in the chat.</a:t>
            </a:r>
            <a:endParaRPr lang="en-US" sz="36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87296"/>
            <a:ext cx="7498080" cy="1511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while you're doing that, let me answer the questions I get asked the most…</a:t>
            </a:r>
            <a:endParaRPr lang="en-US" sz="32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7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658952" y="1147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got a full-time job. Can I actually do this?"</a:t>
            </a:r>
            <a:endParaRPr lang="en-US" sz="2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7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658952" y="1147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got a full-time job. Can I actually do this?"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2224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Q2 -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658952" y="1792224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before I'm actually seeing results?"</a:t>
            </a:r>
            <a:endParaRPr lang="en-US" sz="22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7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658952" y="1147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got a full-time job. Can I actually do this?"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2224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Q2 -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658952" y="1792224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before I'm actually seeing results?"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6876"/>
            <a:ext cx="76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658952" y="2436876"/>
            <a:ext cx="6662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tried mentorships before and none of them worked. Why would this be different?"</a:t>
            </a:r>
            <a:endParaRPr lang="en-US" sz="2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7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658952" y="1147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got a full-time job. Can I actually do this?"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2224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Q2 -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658952" y="1792224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before I'm actually seeing results?"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6876"/>
            <a:ext cx="76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658952" y="2436876"/>
            <a:ext cx="6662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tried mentorships before and none of them worked. Why would this be different?"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33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658952" y="3433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I need a big account to start?"</a:t>
            </a:r>
            <a:endParaRPr lang="en-US" sz="22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47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Q1 -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658952" y="1147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got a full-time job. Can I actually do this?"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92224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Q2 -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658952" y="1792224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long before I'm actually seeing results?"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36876"/>
            <a:ext cx="762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Q3 -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1658952" y="2436876"/>
            <a:ext cx="66620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"I've tried mentorships before and none of them worked. Why would this be different?"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33572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Q4 -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658952" y="3433572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 I need a big account to start?"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78224"/>
            <a:ext cx="7628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Q5 -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1658952" y="4078224"/>
            <a:ext cx="666208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really 1on1? How does it actually work?"</a:t>
            </a:r>
            <a:endParaRPr lang="en-US" sz="2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91440" cy="9144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889254"/>
            <a:ext cx="0" cy="3364992"/>
          </a:xfrm>
          <a:prstGeom prst="line">
            <a:avLst/>
          </a:prstGeom>
          <a:noFill/>
          <a:ln w="25400">
            <a:solidFill>
              <a:srgbClr val="2E2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79781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84353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72923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72923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1on1 Onboarding call, just you and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1843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26415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14985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114985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Based Ranges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163906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68478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157048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157048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live trading sessions with me, every single week.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05968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10540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199110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199110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group coaching calls.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480310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2526030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4400" y="241173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148840" y="2411730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community, my weekly blueprint, and my market commentaries.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900934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2946654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283235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1: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148840" y="2832354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Scaling Phase - 3 extra months with me FOR FREE.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321558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367278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14400" y="325297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2: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2148840" y="3252978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pay for your first prop firm challenge myself.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3742182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3787902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4400" y="367360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3: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3673602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1on1 DM access to me.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162806"/>
            <a:ext cx="182880" cy="182880"/>
          </a:xfrm>
          <a:prstGeom prst="ellipse">
            <a:avLst/>
          </a:prstGeom>
          <a:solidFill>
            <a:srgbClr val="2E7B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85800" y="4208526"/>
            <a:ext cx="91440" cy="914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4400" y="409422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B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4: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148840" y="4094226"/>
            <a:ext cx="6172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weekly 1on1 calls with me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161</Slides>
  <Notes>161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161</vt:i4>
      </vt:variant>
    </vt:vector>
  </HeadingPairs>
  <TitlesOfParts>
    <vt:vector size="1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DTR Live Class</dc:creator>
  <cp:lastModifiedBy>DTR Live Class</cp:lastModifiedBy>
  <cp:revision>1</cp:revision>
  <dcterms:created xsi:type="dcterms:W3CDTF">2026-08-23T07:01:46Z</dcterms:created>
  <dcterms:modified xsi:type="dcterms:W3CDTF">2026-08-23T07:01:46Z</dcterms:modified>
</cp:coreProperties>
</file>