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</p:sldIdLst>
  <p:notesMasterIdLst>
    <p:notesMasterId r:id="rId3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notesMaster" Target="notesMasters/notesMaster1.xml"/><Relationship Id="rId341" Type="http://schemas.openxmlformats.org/officeDocument/2006/relationships/presProps" Target="presProps.xml"/><Relationship Id="rId342" Type="http://schemas.openxmlformats.org/officeDocument/2006/relationships/viewProps" Target="viewProps.xml"/><Relationship Id="rId343" Type="http://schemas.openxmlformats.org/officeDocument/2006/relationships/theme" Target="theme/theme1.xml"/><Relationship Id="rId3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what we're doing for the next hour...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steps. That's the whole system.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Steps To Trading Time Based Ranges: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Steps To Trading Time Based Ranges: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Window — when you're actually allowed to trade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Steps To Trading Time Based Ranges: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Window — when you're actually allowed to trade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Bias — which way you're going, before the open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Steps To Trading Time Based Ranges: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Window — when you're actually allowed to trade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Bias — which way you're going, before the open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Trigger — where you get in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Steps To Trading Time Based Ranges: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Window — when you're actually allowed to trade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Bias — which way you're going, before the open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Trigger — where you get in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Exit — where you get out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When. Which way. Where in. Where out.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losing day you've had this year is one of those 4 being guessed at.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steps. Not 40.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dive in...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The Window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timing is the number one reason you're losing.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your strategy. Not your discipline.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your strategy. Not your discipline.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you are at the desk from the open to the close, chasing every move that appears.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more time you spend in the market, the more risk you put 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risk does not equal more money.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not equally tradeable all day.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not equally tradeable all day.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session is noise.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Maybe you're sat there thinking...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I trade less, don't I make less?”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if the big move happens while I'm away from the charts?”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would the market even be tradeable at one time and not another?”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fair questions.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this section you'll have the exact times on the clock.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down. Yours to keep.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you'll know when to walk away — which is worth more than knowing when to sit down.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enough?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me a “yes” in the chat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tell you what my morning actually looks like now...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last trade this week took 12 minutes.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at 9:30. Out at 9:42. Laptop shut.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not sat there at 2pm wondering if I should have another go.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 is decided before most people have finished their coffee.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not discipline.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not discipline.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don't have more discipline than you.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that I only have two windows where I'm even allowed to be in the market.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outside them, there's no decision to make.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there's no decision to get wrong.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step one. Four things: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Know your two windows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London TBR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1:12 – 2:12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TBR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8:12 – 9:12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(Eastern)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work in New York today — that's the one most of you can actually be awake for.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Mark the high and the low of that hour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BASED RANGE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 ·  8:12 – 9:12 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463040" y="2606040"/>
            <a:ext cx="3108960" cy="1645920"/>
          </a:xfrm>
          <a:prstGeom prst="rect">
            <a:avLst/>
          </a:prstGeom>
          <a:solidFill>
            <a:srgbClr val="2B6BFF">
              <a:alpha val="8000"/>
            </a:srgbClr>
          </a:solidFill>
          <a:ln w="19050">
            <a:solidFill>
              <a:srgbClr val="2B6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606040"/>
            <a:ext cx="987552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4251960"/>
            <a:ext cx="987552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3352" y="3063240"/>
            <a:ext cx="0" cy="9144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3291840"/>
            <a:ext cx="146304" cy="50292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1992" y="2834640"/>
            <a:ext cx="0" cy="128016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291840"/>
            <a:ext cx="146304" cy="5486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70632" y="2697480"/>
            <a:ext cx="0" cy="13716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3017520"/>
            <a:ext cx="146304" cy="82296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9272" y="2926080"/>
            <a:ext cx="0" cy="132588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3017520"/>
            <a:ext cx="146304" cy="10058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67912" y="2743200"/>
            <a:ext cx="0" cy="13716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880360"/>
            <a:ext cx="146304" cy="114300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79392" y="2606040"/>
            <a:ext cx="0" cy="96012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880360"/>
            <a:ext cx="146304" cy="3200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295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OF THE RANGE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4306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OF THE RANGE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63040" y="4507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HOUR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58064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LINES. THAT’S YOUR RANGE.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the box on. Mark the high, mark the low.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lines, nothing else.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That's your range.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buy side liquidity resting above that high.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sell side liquidity resting below that low.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Wait for one side to get taken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Target the opposing end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ONE SIDE  →  TARGET THE OTHER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63040" y="2697480"/>
            <a:ext cx="2560320" cy="1645920"/>
          </a:xfrm>
          <a:prstGeom prst="rect">
            <a:avLst/>
          </a:prstGeom>
          <a:solidFill>
            <a:srgbClr val="2B6BFF">
              <a:alpha val="8000"/>
            </a:srgbClr>
          </a:solidFill>
          <a:ln w="19050">
            <a:solidFill>
              <a:srgbClr val="2B6B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0" y="2697480"/>
            <a:ext cx="969264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4343400"/>
            <a:ext cx="969264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9072" y="3017520"/>
            <a:ext cx="0" cy="100584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3291840"/>
            <a:ext cx="146304" cy="54864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67712" y="2880360"/>
            <a:ext cx="0" cy="132588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0" y="3291840"/>
            <a:ext cx="146304" cy="64008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16352" y="2788920"/>
            <a:ext cx="0" cy="13716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3108960"/>
            <a:ext cx="146304" cy="82296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2926080"/>
            <a:ext cx="0" cy="137160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3108960"/>
            <a:ext cx="146304" cy="86868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22192" y="2743200"/>
            <a:ext cx="0" cy="13716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49040" y="3017520"/>
            <a:ext cx="146304" cy="96012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63040" y="2368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SIDE LIQUIDITY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63040" y="4416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SIDE LIQUIDITY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53712" y="3291840"/>
            <a:ext cx="0" cy="128016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80560" y="3383280"/>
            <a:ext cx="146304" cy="10058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02352" y="3840480"/>
            <a:ext cx="0" cy="109728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0" y="4389120"/>
            <a:ext cx="146304" cy="3200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50992" y="4297680"/>
            <a:ext cx="0" cy="45720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0" y="4480560"/>
            <a:ext cx="146304" cy="22860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5074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THE LOW GETS TAKEN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V="1">
            <a:off x="6035040" y="2743200"/>
            <a:ext cx="3886200" cy="178308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498080" y="2212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TARGET THE OPPOSING END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978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ONE SIDE. TRADE TO THE OTHER SIDE.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day, let it play forward.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Sweep one side, run to the other. Square it off.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one side. Trade to the other side.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trade.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genuinely the whole thing.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“It's very simple and very mechanical at the same time.”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3 rules around it...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trade during the window.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building the range, not trading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trade 9:30 – 10:00.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trades maximum.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happened by 10:00?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trade. Close the laptop.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— you've got no reason to believe a word of that.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educator on YouTube tells you their thing works and you take their word for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I'm not going to ask you to.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never lies. People can lie.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Edgeful. Their branding visible — make it obvious it's third party.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sessions, January to July.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sessions. Not mine. Theirs.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of that range got taken on 70% of them.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trade. That's the only thing I do.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0 days out of 128 where that range didn't get broken at all.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I'll be straight with you, because someone smart in this room will spot it...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measured across the whole session.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only trade the first 30 minutes.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some days the break came at 2pm and I'd long gone.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exactly why some days I don't trade at all.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that level gets respected every single day.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never sat there hoping a setup appears.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one way of showing you. Here's the second...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consecutive sessions. 20 seconds each. Box, sweep, run.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zoom out so several boxes sit on screen together.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how identical they are.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not 5 days I went hunting through the year for.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just the week.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looking for a new thing every day.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looking for the same thing every day.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what a system actually is.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third way — let's do it on your chart, not mine.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asset you trade in the chat.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 3 from the chat. Mark the box on each. Show the sweep.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seconds each. Don't cherry-pick.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thing. Different market.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“It's automatically applied every single day and you can trade it very mechanically.”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which window are you trading?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London or New York? Type it in the chat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done. ✓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The Bias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now you've got your range marked.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9:30. The market's moving.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are you going?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if you can't answer that, everything I just gave you is worthless.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I'd guess most of you have never answered it before the open.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I'd guess most of you have never answered it before the open.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once.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what happens instead...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spikes. You buy. It reverses. Stops you out.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annoyed, so you flip and sell.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annoyed, so you flip and sell.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reverses again.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done that?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in the chat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Right. All of us.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not a discipline problem.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that you're making the biggest decision of your day in the most violent 30 seconds of the session.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makes good decisions in that state. Nobody.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make the decision before any of it starts.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section you'll be able to sit down at 9:29 tomorrow and say “I'm a buyer today” —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section you'll be able to sit down at 9:29 tomorrow and say “I'm a buyer today” —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have an actual reason.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enough?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want to show you the thing that changed this for me...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it's backwards from everything you've been taught.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anchor day. The 8am candle, high and low marked.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the 9am candle breaking the low.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breaks the low of that candle.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breaks the low of that candle.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I'm a buyer.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that back, because I think half of you heard it wrong.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goes down.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buy.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doesn't move randomly.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moves to collect liquidity and pair orders.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buyer there has to be a seller.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when price dips below that low — who's selling down there?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who's been taught to sell the breakdown.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who's been taught to sell the breakdown.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with a stop sat under the low.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triggers at once.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the point of the move.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sell orders are what the big buy orders get paired with.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takes the sell side first.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can trade to the buy side.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PRICE TAKES THE LOW  BEFORE  IT GOES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63040" y="3200400"/>
            <a:ext cx="859536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19556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OF THE RANGE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3584448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3730752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28416" y="3877056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95344" y="3584448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2272" y="3730752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0" y="3877056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96128" y="3584448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63056" y="3730752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29984" y="3877056"/>
            <a:ext cx="347472" cy="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4160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+ BREAKDOWN SELLERS RESTING UNDER THE LOW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28800" y="2697480"/>
            <a:ext cx="822960" cy="1005840"/>
          </a:xfrm>
          <a:prstGeom prst="line">
            <a:avLst/>
          </a:prstGeom>
          <a:noFill/>
          <a:ln w="2540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DIPS 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" kern="0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SELL ORDERS TRIGGER AT ONCE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26080" y="510235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WHAT THE BIG BUY ORDERS GET PAIRED WITH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flipV="1">
            <a:off x="8778240" y="1783080"/>
            <a:ext cx="1554480" cy="224028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052560" y="1234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CAN TRADE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BUY SIDE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63040" y="59436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EVERY BUYER THERE HAS TO BE A SELLER.”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the anchor day run. Breaks the low, everything says sell,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it reverses and runs the high.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think about how many of your losing trades that just explained.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sold the low. It went up.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sold the low. It went up.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bought the high. It went down.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getting unlucky.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getting unlucky.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basically misaligned to the market.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you don't understand where liquidity is being generated, 9 times out of 10 you are going to become the liquidity.”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what's been happening to you.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you treat your hourly candles as your daily candles, a whole new world opens up.”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before I'll tell you I'm a buyer, 4 things have to be true: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hourly candle broke one side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It broke one — not neither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My range formed inside a dealing range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I'm not sat at equilibrium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hourly candle broke one side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8:00 candle for New York.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1:00 candle for London.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candle breaks the low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I'm bullish, targeting the high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candle breaks the low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I'm bullish, targeting the high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the high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I'm bearish, targeting the 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It broke one side. Not neither.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day where the candle breaks neither side.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the rest of the day play out sideways and go nowhere.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an indecisive candle.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an indecisive candle.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trade. Hop off the charts.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day this rule saves you money instead of making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worth just as much.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My range formed inside a dealing range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DEALING RANGE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11680" y="2011680"/>
            <a:ext cx="6583680" cy="1554480"/>
          </a:xfrm>
          <a:prstGeom prst="rect">
            <a:avLst/>
          </a:prstGeom>
          <a:solidFill>
            <a:srgbClr val="2B6BFF">
              <a:alpha val="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3566160"/>
            <a:ext cx="6583680" cy="1554480"/>
          </a:xfrm>
          <a:prstGeom prst="rect">
            <a:avLst/>
          </a:prstGeom>
          <a:solidFill>
            <a:srgbClr val="3FD0C9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2011680"/>
            <a:ext cx="658368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5120640"/>
            <a:ext cx="658368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3566160"/>
            <a:ext cx="6583680" cy="0"/>
          </a:xfrm>
          <a:prstGeom prst="line">
            <a:avLst/>
          </a:prstGeom>
          <a:noFill/>
          <a:ln w="12700">
            <a:solidFill>
              <a:srgbClr val="8A8F9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86968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THAT PUSHED PRICE 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EQUILIBRIUM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THAT PUSHED PRICE UP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40280" y="2194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4663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913632"/>
            <a:ext cx="1737360" cy="731520"/>
          </a:xfrm>
          <a:prstGeom prst="rect">
            <a:avLst/>
          </a:prstGeom>
          <a:solidFill>
            <a:srgbClr val="0A0A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4718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BASED RANGE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63040" y="58978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WANT TO SEE OUR TIME BASED RANGE ACTUALLY FORM WITHIN THIS.”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NEVER TRADE THE MIDPOINT.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Dealing range on the anchor day — the high that pushed price down,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low that pushed price up. Time based range sitting inside it.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en-US" sz="9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want to see our time based range actually form within this.”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9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hasn't, I'm not interested — however good the candle looked.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endParaRPr lang="en-US" sz="9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I'm not sat at equilibrium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9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Midpoint of the dealing range marked.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9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is where you get chopped up.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never trade the midpoint.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</a:t>
            </a:r>
            <a:endParaRPr lang="en-US" sz="9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when I do take the trade — where am I going?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</a:t>
            </a:r>
            <a:endParaRPr lang="en-US" sz="9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out the failure swings under the range —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lows that failed to trade below the previous low.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9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are failure swings.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</a:t>
            </a:r>
            <a:endParaRPr lang="en-US" sz="9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are failure swings.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resistance liquidity.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9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market comes down for those, it drops through them with a lot of aggression.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9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makes them the easiest thing on the chart to aim at.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9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it's never a random level.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logical one.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</a:t>
            </a:r>
            <a:endParaRPr lang="en-US" sz="9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more days, fast. Break low so buyer. Break high so seller.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 low so buyer. One that fails criterion 3 or 4 — skipped.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</a:t>
            </a:r>
            <a:endParaRPr lang="en-US" sz="9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4 checks. Every day.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</a:t>
            </a:r>
            <a:endParaRPr lang="en-US" sz="9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4 checks. Every day.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the day I don't trade.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9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— I'll be honest with you about something.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9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could take those 4 criteria home tonight and still get them wrong for 6 months.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9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because they're hard.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</a:t>
            </a:r>
            <a:endParaRPr lang="en-US" sz="9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because they're hard.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there's nobody sat next to you saying “no, look again.”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9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 work with can recite the rules.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</a:t>
            </a:r>
            <a:endParaRPr lang="en-US" sz="9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 work with can recite the rules.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them live is a different thing entirely.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</a:t>
            </a:r>
            <a:endParaRPr lang="en-US" sz="9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come back to that.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9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4 — which one would you have got wrong yesterday?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the number. 1, 2, 3 or 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</a:t>
            </a:r>
            <a:endParaRPr lang="en-US" sz="9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Yeah. 2 and 3, mostly. Every time.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9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done. ✓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9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The Trigger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9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now you know which way you're going.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9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knowing you're a buyer still isn't a trade.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9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knowing you're a buyer still isn't a trade.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to get in somewhere.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</a:t>
            </a:r>
            <a:endParaRPr lang="en-US" sz="9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is the part where I lost the most money for the longest time.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9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me if this is you...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9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the work. You find the level. You wait. You get your entry.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9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market stops you out —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9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market stops you out —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immediately runs to your take profit.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9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“Yes” in the chat if that's happened to you this month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9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 at the chat. Let it fill up before saying anything.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</a:t>
            </a:r>
            <a:endParaRPr lang="en-US" sz="9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that.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</a:t>
            </a:r>
            <a:endParaRPr lang="en-US" sz="9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not bad luck.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9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not bad luck.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entering before the reversal is confirmed.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</a:t>
            </a:r>
            <a:endParaRPr lang="en-US" sz="9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stopped, it moves your way without you, and you think 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</a:t>
            </a:r>
            <a:endParaRPr lang="en-US" sz="9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stopped, it moves your way without you, and you think —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should have just waited.”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9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what you do instead.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</a:t>
            </a:r>
            <a:endParaRPr lang="en-US" sz="9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it's the least impressive advice you'll hear today.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9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takes out the low.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don't touch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</a:t>
            </a:r>
            <a:endParaRPr lang="en-US" sz="9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“Instead of panicking and buying as soon as you see the first green candle — actually wait.”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</a:t>
            </a:r>
            <a:endParaRPr lang="en-US" sz="9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“Actually sit on your hands.”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9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thing to do in this business is wait.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</a:t>
            </a:r>
            <a:endParaRPr lang="en-US" sz="9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people can't, because they want to rush into the market.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</a:t>
            </a:r>
            <a:endParaRPr lang="en-US" sz="9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whole edge is sat in the gap between the sweep and the confirmation.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</a:t>
            </a:r>
            <a:endParaRPr lang="en-US" sz="9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I'm going to give you 3 ways in.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9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not everyone favours the same one.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9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Inverse fair value gap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Order block made in liquidity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Three candle rotation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9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They're ranked earliest to latest.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9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They're ranked earliest to latest.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the same as saying best price to most certain.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9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→ better entry, less confirmation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→ more certainty, worse price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9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WAYS 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DECISION IS WHERE YOU SIT ON THIS 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37360" y="3977640"/>
            <a:ext cx="8686800" cy="0"/>
          </a:xfrm>
          <a:prstGeom prst="line">
            <a:avLst/>
          </a:prstGeom>
          <a:noFill/>
          <a:ln w="22225">
            <a:solidFill>
              <a:srgbClr val="2A2E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39696" y="3831336"/>
            <a:ext cx="292608" cy="292608"/>
          </a:xfrm>
          <a:prstGeom prst="ellipse">
            <a:avLst/>
          </a:prstGeom>
          <a:solidFill>
            <a:srgbClr val="2B6BFF"/>
          </a:solidFill>
          <a:ln w="12700">
            <a:solidFill>
              <a:srgbClr val="2B6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7360" y="3108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FAIR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GAP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34456" y="383133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2120" y="3108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BLOCK MADE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LIQUIDITY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29216" y="3831336"/>
            <a:ext cx="292608" cy="292608"/>
          </a:xfrm>
          <a:prstGeom prst="ellipse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0" y="3108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50392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CANDLE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737360" y="5257800"/>
            <a:ext cx="868680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3736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5715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680960" y="5715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CERTAIN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63040" y="621792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PERFECT ONE. THERE’S THE RIGHT ONE FOR THE DAY.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90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no perfect one.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the right one for the day.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</a:t>
            </a:r>
            <a:endParaRPr lang="en-US" sz="9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inverse fair value gap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</a:t>
            </a:r>
            <a:endParaRPr lang="en-US" sz="9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inverse fair value gap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earliest sign.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endParaRPr lang="en-US" sz="9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value gap is a hole where price moved so fast it skipped a level.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</a:t>
            </a:r>
            <a:endParaRPr lang="en-US" sz="9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we're genuinely still going lower, price comes back into that hole and carries on down.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9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inverse fair value gap is when it fails to do that.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</a:t>
            </a:r>
            <a:endParaRPr lang="en-US" sz="9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tried to go one way and couldn't.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failure is your signal.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9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Anchor day. The gap forming on the leg down,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price closing back above it. Mark the entry.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</a:t>
            </a:r>
            <a:endParaRPr lang="en-US" sz="9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order block made in liquidity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</a:t>
            </a:r>
            <a:endParaRPr lang="en-US" sz="9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order block made in liquidity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— and the one I take most.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</a:t>
            </a:r>
            <a:endParaRPr lang="en-US" sz="9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definition an order block is a change in the state of delivery.”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9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the only ones that count are the ones made in liquidity.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</a:t>
            </a:r>
            <a:endParaRPr lang="en-US" sz="9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BLOCK MADE IN LIQUIDITY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OF THESE RED CANDLES COUNTS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37360" y="3977640"/>
            <a:ext cx="8686800" cy="0"/>
          </a:xfrm>
          <a:prstGeom prst="line">
            <a:avLst/>
          </a:prstGeom>
          <a:noFill/>
          <a:ln w="22225">
            <a:solidFill>
              <a:srgbClr val="2B6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3648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OF THE RANGE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90672" y="2148840"/>
            <a:ext cx="0" cy="82296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7520" y="2286000"/>
            <a:ext cx="146304" cy="5486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5072" y="2514600"/>
            <a:ext cx="0" cy="86868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1920" y="2697480"/>
            <a:ext cx="146304" cy="54864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19472" y="2926080"/>
            <a:ext cx="0" cy="91440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3108960"/>
            <a:ext cx="146304" cy="59436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33872" y="3429000"/>
            <a:ext cx="0" cy="1234440"/>
          </a:xfrm>
          <a:prstGeom prst="line">
            <a:avLst/>
          </a:prstGeom>
          <a:noFill/>
          <a:ln w="12700">
            <a:solidFill>
              <a:srgbClr val="464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60720" y="3611880"/>
            <a:ext cx="146304" cy="731520"/>
          </a:xfrm>
          <a:prstGeom prst="rect">
            <a:avLst/>
          </a:prstGeom>
          <a:solidFill>
            <a:srgbClr val="464C55"/>
          </a:solidFill>
          <a:ln w="12700">
            <a:solidFill>
              <a:srgbClr val="464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48272" y="3200400"/>
            <a:ext cx="0" cy="128016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0" y="3383280"/>
            <a:ext cx="146304" cy="960120"/>
          </a:xfrm>
          <a:prstGeom prst="rect">
            <a:avLst/>
          </a:prstGeom>
          <a:solidFill>
            <a:srgbClr val="C9CDD3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13432" y="18196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THIS ONE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27832" y="21854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THIS ONE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42232" y="25968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THIS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77840" y="3291840"/>
            <a:ext cx="512064" cy="1463040"/>
          </a:xfrm>
          <a:prstGeom prst="rect">
            <a:avLst/>
          </a:prstGeom>
          <a:ln w="25400">
            <a:solidFill>
              <a:srgbClr val="3FD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10912" y="48646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" kern="0" dirty="0">
                <a:solidFill>
                  <a:srgbClr val="3FD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06640" y="4206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THE CANDLE THAT TRADED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THE LIQUIDITY BELOW THE RANGE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 flipV="1">
            <a:off x="6903720" y="2377440"/>
            <a:ext cx="182880" cy="86868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269480" y="2057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BACK ABOVE IT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THAT’S WHERE I CAN TRUST BUYING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6035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OTHER RED CANDLE ON THAT CHART IS JUST A RED CANDLE.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</a:t>
            </a:r>
            <a:endParaRPr lang="en-US" sz="9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leg down. 3 or 4 down-close candles. Point at each in turn.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Land on the one that closed below the low of the range.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</a:t>
            </a:r>
            <a:endParaRPr lang="en-US" sz="90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that one. Not that one.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9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that's the candle that traded into the liquidity below the range.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9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we close back above it, that's where I can trust buying.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</a:t>
            </a:r>
            <a:endParaRPr lang="en-US" sz="9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other red candle on that chart is just a red candle.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</a:t>
            </a:r>
            <a:endParaRPr lang="en-US" sz="9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three candle rotation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</a:t>
            </a:r>
            <a:endParaRPr lang="en-US" sz="9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three candle rotation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use this when the other two aren't there.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9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consecutive down-close candles,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one closing above all three.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226</a:t>
            </a:r>
            <a:endParaRPr lang="en-US" sz="9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down closes. Close above all three, and delivery has shifted.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9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signal. Worst price.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certain.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228</a:t>
            </a:r>
            <a:endParaRPr lang="en-US" sz="9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here's the honest problem with everything I just showed you.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</a:t>
            </a:r>
            <a:endParaRPr lang="en-US" sz="9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chart I've already chosen, with me talking over it, all three of those are obvious.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9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9:34 tomorrow, with your own money on it, the question in your head is going to be: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endParaRPr lang="en-US" sz="9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that a real order block, or am I seeing what I want to see?”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</a:t>
            </a:r>
            <a:endParaRPr lang="en-US" sz="9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question is the difference between the people who make this work and the people who don't.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</a:t>
            </a:r>
            <a:endParaRPr lang="en-US" sz="9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cannot answer it by watching more videos.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</a:t>
            </a:r>
            <a:endParaRPr lang="en-US" sz="90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thing while we're here...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90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stops you out, take two trades in the same direction.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</a:t>
            </a:r>
            <a:endParaRPr lang="en-US" sz="9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they're both wrong, then you're just wrong on the day” — and you come back tomorrow.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237</a:t>
            </a:r>
            <a:endParaRPr lang="en-US" sz="90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“Understand that it's a cost of doing business if you take a loss.”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9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which of the 3 is going to be your trigger?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1, 2 or 3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239</a:t>
            </a:r>
            <a:endParaRPr lang="en-US" sz="90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— that tells me you were listening to the trade-off and not just the names.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9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done. ✓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9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The Exit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</a:t>
            </a:r>
            <a:endParaRPr lang="en-US" sz="90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now you're in the trade.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9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I'd argue this next part matters more than everything before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</a:t>
            </a:r>
            <a:endParaRPr lang="en-US" sz="90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entries are basically 50/50.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245</a:t>
            </a:r>
            <a:endParaRPr lang="en-US" sz="90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entries are basically 50/50.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you've eliminated one direction, entries get easy.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246</a:t>
            </a:r>
            <a:endParaRPr lang="en-US" sz="9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are where the money is actually kept or given back.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247</a:t>
            </a:r>
            <a:endParaRPr lang="en-US" sz="9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times have you been properly up on a trade 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</a:t>
            </a:r>
            <a:endParaRPr lang="en-US" sz="9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times have you been properly up on a trade —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watched it come all the way back to your entry?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</a:t>
            </a:r>
            <a:endParaRPr lang="en-US" sz="9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“Yes” in the chat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9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person in this room.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251</a:t>
            </a:r>
            <a:endParaRPr lang="en-US" sz="90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person in this room.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me. And I'll show you.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252</a:t>
            </a:r>
            <a:endParaRPr lang="en-US" sz="9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–$8,580 day. P&amp;L first. Sit on it. Then the chart.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</a:t>
            </a:r>
            <a:endParaRPr lang="en-US" sz="90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$8,580. One day. Gone.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254</a:t>
            </a:r>
            <a:endParaRPr lang="en-US" sz="9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got in. I set my stop.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</a:t>
            </a:r>
            <a:endParaRPr lang="en-US" sz="90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got in. I set my stop.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failed to set a take profit.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</a:t>
            </a:r>
            <a:endParaRPr lang="en-US" sz="9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alert went off, I came back — and it had hit my target and come all the way back through my stop.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90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human error. We move on.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</a:t>
            </a:r>
            <a:endParaRPr lang="en-US" sz="90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 was right. The system was right.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was wrong.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9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system never fails me. If I lose, I failed the system.”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</a:t>
            </a:r>
            <a:endParaRPr lang="en-US" sz="90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full month. $56,000 across 15 trading days.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261</a:t>
            </a:r>
            <a:endParaRPr lang="en-US" sz="9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still finished that month up $56,000.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</a:t>
            </a:r>
            <a:endParaRPr lang="en-US" sz="90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bad day inside a repeatable process is just a bad day.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</a:t>
            </a:r>
            <a:endParaRPr lang="en-US" sz="90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going to have losing days.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</a:t>
            </a:r>
            <a:endParaRPr lang="en-US" sz="90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going to have losing days.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winning trade is always around the corner.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265</a:t>
            </a:r>
            <a:endParaRPr lang="en-US" sz="90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what happens while you're holding. 4 things, in order: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266</a:t>
            </a:r>
            <a:endParaRPr lang="en-US" sz="90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GRADED PRICE SWING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WHILE YOU’RE HOLDING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377440" y="2788920"/>
            <a:ext cx="5669280" cy="914400"/>
          </a:xfrm>
          <a:prstGeom prst="rect">
            <a:avLst/>
          </a:prstGeom>
          <a:solidFill>
            <a:srgbClr val="3FD0C9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377440" y="1874520"/>
            <a:ext cx="56692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66760" y="1691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SWING HIGH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788920"/>
            <a:ext cx="5669280" cy="0"/>
          </a:xfrm>
          <a:prstGeom prst="line">
            <a:avLst/>
          </a:prstGeom>
          <a:noFill/>
          <a:ln w="12700">
            <a:solidFill>
              <a:srgbClr val="2B6BF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600200" y="26517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366760" y="26060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— FULL TAKE PROFIT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NEW POSITION UP HERE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3703320"/>
            <a:ext cx="5669280" cy="0"/>
          </a:xfrm>
          <a:prstGeom prst="line">
            <a:avLst/>
          </a:prstGeom>
          <a:noFill/>
          <a:ln w="12700">
            <a:solidFill>
              <a:srgbClr val="2B6BFF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5661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66760" y="3520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TO BREAK EVEN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77440" y="4617720"/>
            <a:ext cx="5669280" cy="0"/>
          </a:xfrm>
          <a:prstGeom prst="line">
            <a:avLst/>
          </a:prstGeom>
          <a:noFill/>
          <a:ln w="12700">
            <a:solidFill>
              <a:srgbClr val="2B6BFF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600200" y="44805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60" kern="0" dirty="0">
                <a:solidFill>
                  <a:srgbClr val="2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6676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spc="6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MARKET’S SHIFTING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5532120"/>
            <a:ext cx="56692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0200" y="53949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53492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SWING 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ZONE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9436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JUST TAKE 50 POINTS ON THE NASDAQ AND YOU’RE DONE.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</a:t>
            </a:r>
            <a:endParaRPr lang="en-US" sz="90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 from swing high to swing low on the anchor day. 25 / 50 / 75 marked.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 the live trade through each level, saying them out loud as price crosses.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</a:t>
            </a:r>
            <a:endParaRPr lang="en-US" sz="900" dirty="0"/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Close past 25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market's shifting. That's my confirmation.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90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Close past 50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shouldn't come back to 25. Move to break even.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</a:t>
            </a:r>
            <a:endParaRPr lang="en-US" sz="900" dirty="0"/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50 to 75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 zone. That's where I'm taking money off.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</a:t>
            </a:r>
            <a:endParaRPr lang="en-US" sz="90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Past 75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Extended. Full take profit — and never a new position up there.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90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if that's too much to think about at 9:30 in the morning...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</a:t>
            </a:r>
            <a:endParaRPr lang="en-US" sz="90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simple version: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274</a:t>
            </a:r>
            <a:endParaRPr lang="en-US" sz="90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points on the Nasdaq and you're done.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275</a:t>
            </a:r>
            <a:endParaRPr lang="en-US" sz="90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the opposing end.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the whole move.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276</a:t>
            </a:r>
            <a:endParaRPr lang="en-US" sz="90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one ever, and I mean ever, goes broke taking profit.”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277</a:t>
            </a:r>
            <a:endParaRPr lang="en-US" sz="90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will go broke taking losses.”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278</a:t>
            </a:r>
            <a:endParaRPr lang="en-US" sz="90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which one are you?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graded swing, or the flat 50 points? Type A or B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90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done. ✓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endParaRPr lang="en-US" sz="90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Window ✓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Bias ✓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Trigger ✓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Exit 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281</a:t>
            </a:r>
            <a:endParaRPr lang="en-US" sz="90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trade, start to finish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</a:t>
            </a:r>
            <a:endParaRPr lang="en-US" sz="900" dirty="0"/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Right. 4 steps, all ticked.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</a:t>
            </a:r>
            <a:endParaRPr lang="en-US" sz="90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put them together.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284</a:t>
            </a:r>
            <a:endParaRPr lang="en-US" sz="90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separately they're 4 ideas.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they're one trade.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</a:t>
            </a:r>
            <a:endParaRPr lang="en-US" sz="90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Brand new day — NOT the anchor day.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sequence, 8:12 through to the exit. Rauf narrates each step as it happens.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900" dirty="0"/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the window. There's the range.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287</a:t>
            </a:r>
            <a:endParaRPr lang="en-US" sz="900" dirty="0"/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 candle breaks the low — so I'm a buyer.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288</a:t>
            </a:r>
            <a:endParaRPr lang="en-US" sz="900" dirty="0"/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Dealing range checks out. Not at equilibrium.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289</a:t>
            </a:r>
            <a:endParaRPr lang="en-US" sz="900" dirty="0"/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 wait.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wait.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900" dirty="0"/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the order block made in liquidity.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my in.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291</a:t>
            </a:r>
            <a:endParaRPr lang="en-US" sz="900" dirty="0"/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25. Past 50 — stop to break even.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292</a:t>
            </a:r>
            <a:endParaRPr lang="en-US" sz="900" dirty="0"/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points. Done.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293</a:t>
            </a:r>
            <a:endParaRPr lang="en-US" sz="900" dirty="0"/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points. Done.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minutes.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294</a:t>
            </a:r>
            <a:endParaRPr lang="en-US" sz="900" dirty="0"/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That's a day.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</a:t>
            </a:r>
            <a:endParaRPr lang="en-US" sz="900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one thing I want you to notice about that trade...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296</a:t>
            </a:r>
            <a:endParaRPr lang="en-US" sz="900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step agreed with every other one.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</a:t>
            </a:r>
            <a:endParaRPr lang="en-US" sz="900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or more confluences pointing the same direction = a high probability trade.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298</a:t>
            </a:r>
            <a:endParaRPr lang="en-US" sz="900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day, layered: range swept, gap inverted,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block confirmed, hourly made its swing point.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299</a:t>
            </a:r>
            <a:endParaRPr lang="en-US" sz="900" dirty="0"/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day I risk more.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900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I'll be honest with you, because a lot of educators won't 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</a:t>
            </a:r>
            <a:endParaRPr lang="en-US" sz="900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I'll be honest with you, because a lot of educators won't —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in the business to make money.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302</a:t>
            </a:r>
            <a:endParaRPr lang="en-US" sz="900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to be able to risk more on the trades you're confident in.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how you make more.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900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let's find out if any of that actually landed.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304</a:t>
            </a:r>
            <a:endParaRPr lang="en-US" sz="900" dirty="0"/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putting up a chart you've never seen.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I'm not saying a word.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305</a:t>
            </a:r>
            <a:endParaRPr lang="en-US" sz="900" dirty="0"/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 chart. New day. Silent.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</a:t>
            </a:r>
            <a:endParaRPr lang="en-US" sz="900" dirty="0"/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me.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Where's the window?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</a:t>
            </a:r>
            <a:endParaRPr lang="en-US" sz="900" dirty="0"/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for the chat. Mark what they say.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308</a:t>
            </a:r>
            <a:endParaRPr lang="en-US" sz="900" dirty="0"/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give me the bias.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I a buyer or a seller?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</a:t>
            </a:r>
            <a:endParaRPr lang="en-US" sz="900" dirty="0"/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Wait. Then reveal the candle. Confirm.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</a:t>
            </a:r>
            <a:endParaRPr lang="en-US" sz="900" dirty="0"/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what's the trigger?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 2 or 3?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</a:t>
            </a:r>
            <a:endParaRPr lang="en-US" sz="900" dirty="0"/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LIVE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Wait. Let them argue in the chat. Then show it.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the day play out to the exit.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</a:t>
            </a:r>
            <a:endParaRPr lang="en-US" sz="900" dirty="0"/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it is.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</a:t>
            </a:r>
            <a:endParaRPr lang="en-US" sz="900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 ago most of you couldn't have called any of that.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314</a:t>
            </a:r>
            <a:endParaRPr lang="en-US" sz="900" dirty="0"/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look at what you've actually got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315</a:t>
            </a:r>
            <a:endParaRPr lang="en-US" sz="900" dirty="0"/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windows. And the data behind them.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316</a:t>
            </a:r>
            <a:endParaRPr lang="en-US" sz="900" dirty="0"/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or seller off one candle, before the open.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317</a:t>
            </a:r>
            <a:endParaRPr lang="en-US" sz="900" dirty="0"/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ways in, ranked.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318</a:t>
            </a:r>
            <a:endParaRPr lang="en-US" sz="900" dirty="0"/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4 levels on the way out.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</a:t>
            </a:r>
            <a:endParaRPr lang="en-US" sz="900" dirty="0"/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 complete system.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</a:t>
            </a:r>
            <a:endParaRPr lang="en-US" sz="900" dirty="0"/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more than I had after 2 years and thousands of pounds of courses.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321</a:t>
            </a:r>
            <a:endParaRPr lang="en-US" sz="900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can go and use it. Tomorrow morning. No strings.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322</a:t>
            </a:r>
            <a:endParaRPr lang="en-US" sz="900" dirty="0"/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I'd rather be honest with you than sell you a dream...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323</a:t>
            </a:r>
            <a:endParaRPr lang="en-US" sz="900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the part nobody says out loud.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</a:t>
            </a:r>
            <a:endParaRPr lang="en-US" sz="900" dirty="0"/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read that chart sat here, with me, on a market I chose, with no money on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325</a:t>
            </a:r>
            <a:endParaRPr lang="en-US" sz="900" dirty="0"/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do it at 9:31 tomorrow with your own account on the line.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326</a:t>
            </a:r>
            <a:endParaRPr lang="en-US" sz="900" dirty="0"/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again the day after.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</a:t>
            </a:r>
            <a:endParaRPr lang="en-US" sz="900" dirty="0"/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again the day after.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again for 6 months.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328</a:t>
            </a:r>
            <a:endParaRPr lang="en-US" sz="900" dirty="0"/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again the day after.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again for 6 months.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nobody checking your work.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329</a:t>
            </a:r>
            <a:endParaRPr lang="en-US" sz="900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everything I've shown you today gets you to the setup.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</a:t>
            </a:r>
            <a:endParaRPr lang="en-US" sz="900" dirty="0"/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everything I've shown you today gets you to the setup.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it gets you to a payout.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331</a:t>
            </a:r>
            <a:endParaRPr lang="en-US" sz="900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those are two completely different problems.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332</a:t>
            </a:r>
            <a:endParaRPr lang="en-US" sz="900" dirty="0"/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almost nobody finds out until they've passed an account and still can't get paid.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</a:t>
            </a:r>
            <a:endParaRPr lang="en-US" sz="900" dirty="0"/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person I've worked with came to me from exactly that spot.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334</a:t>
            </a:r>
            <a:endParaRPr lang="en-US" sz="900" dirty="0"/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could trade. They'd passed evaluations.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335</a:t>
            </a:r>
            <a:endParaRPr lang="en-US" sz="900" dirty="0"/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could trade. They'd passed evaluations.</a:t>
            </a: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2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just couldn't turn it into money coming out.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</a:t>
            </a:r>
            <a:endParaRPr lang="en-US" sz="900" dirty="0"/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let me show you why that gap exists.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337</a:t>
            </a:r>
            <a:endParaRPr lang="en-US" sz="900" dirty="0"/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let me show you why that gap exists.</a:t>
            </a: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what actually closes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338</Slides>
  <Notes>338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338</vt:i4>
      </vt:variant>
    </vt:vector>
  </HeadingPairs>
  <TitlesOfParts>
    <vt:vector size="3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TBR Live Class - Content Section</dc:title>
  <dc:subject>PptxGenJS Presentation</dc:subject>
  <dc:creator>Day Trading Rauf</dc:creator>
  <cp:lastModifiedBy>Day Trading Rauf</cp:lastModifiedBy>
  <cp:revision>1</cp:revision>
  <dcterms:created xsi:type="dcterms:W3CDTF">2026-08-21T05:39:51Z</dcterms:created>
  <dcterms:modified xsi:type="dcterms:W3CDTF">2026-08-21T05:39:51Z</dcterms:modified>
</cp:coreProperties>
</file>