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</p:sldIdLst>
  <p:notesMasterIdLst>
    <p:notesMasterId r:id="rId2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notesMaster" Target="notesMasters/notesMaster1.xml"/><Relationship Id="rId272" Type="http://schemas.openxmlformats.org/officeDocument/2006/relationships/presProps" Target="presProps.xml"/><Relationship Id="rId273" Type="http://schemas.openxmlformats.org/officeDocument/2006/relationships/viewProps" Target="viewProps.xml"/><Relationship Id="rId274" Type="http://schemas.openxmlformats.org/officeDocument/2006/relationships/theme" Target="theme/theme1.xml"/><Relationship Id="rId2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THE TIME BASED RANGES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THE TIME BASED RANGES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 BIAS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THE TIME BASED RANGES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 BIAS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 THE ENTRY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THE TIME BASED RANGES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 BIAS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 THE ENTRY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 THE EXIT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THE TIME BASED RANGES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 BIAS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 THE ENTRY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 THE EXIT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 ONE FULL TRADE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BASED RANGES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mark before the open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is the most important part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my strategy.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inconsistent traders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aren't bad at trading.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inconsistent traders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aren't bad at trading.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timing is just wrong.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actually a good thing.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that, and you only trade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certain times of the day.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sitting there for hours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pattern to form.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time every single day.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Analyse. Wait for your bias.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something?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trade. And you're out fast.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something?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trade. And you're out fast.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nothing?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trade. Out fast.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takes the thinking out of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1 hour window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what to do.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let's get into the times.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got a number of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I'm leaking 2 of them.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I'm leaking 2 of them.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 New York.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 London.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are for my private students.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sign an NDA.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all of them sit inside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dealing range.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first — how I identify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dealing range.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 between a swing high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swing low.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swing =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point where the market turned.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with a clear swing high and swing low. Mark both.]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— this was the low that pushed the market higher.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was the high that pushed the market lower.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line at each.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Automatically, that becomes a range to the market.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Super easy.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why does that matter?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 what sits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and below those 2 lines.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= resting orders.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waiting to get filled.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high: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buyers waiting.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high: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buyers waiting.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low: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sellers.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those 2 lines and you know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is parked.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doesn't tell you WHEN.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doesn't tell you WHEN.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box could be days wide.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next we mark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Based Range.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inner box.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 is about time, not price.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1:12 – 2:12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8:12 – 9:12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work New York today.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[Same chart. Drop the 8:12-9:12 box inside the dealing range. Mark its high and low.]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8:12 it starts.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9:12 it's done.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there.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there.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more lines.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your time based range.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rule that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the 2 boxes.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time based range must form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dealing range.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time based range must form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dealing range.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hasn't, I'm not interested.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if price has already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been there and moved past…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…there's nothing left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market to collect.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sense?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yes in the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you've got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box inside a box.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one: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market cares.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one: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market cares.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one: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going to act.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neither one tells you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market is going.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step 2.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way you're trading today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got our 2 boxes.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orders are.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the market goes for them.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which way we're trading.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everyone assumes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hard part.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you think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to predict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news.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higher timeframes.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an opinion.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hope you're right.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that actually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spikes. You buy.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reverses. Stops you out.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spikes. You buy.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reverses. Stops you out.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flip and sell.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reverses again.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done that?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the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All of us.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not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discipline problem.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decision of your day.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the most violent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of the session.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nothing to base it 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makes a good decision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state.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the good news.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have to predict anything.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market can move…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market can move…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to collect the orders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on one side.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EXPLAIN WHY — to write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already know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those orders are.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marked them in step 1.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you're not predicting anymore.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walks into one of your boxes.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watch which side it goes for.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your direction.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gets handed to you.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9:29 tomorrow you'll know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a buyer or a seller.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9:29 tomorrow you'll know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a buyer or a seller.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actual reason behind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things have to happen.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order.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One side of your range gets taken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One side of your range gets taken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Then the dealing range goes too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One side gets taken.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your bias.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the inner box.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one hit first.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[Anchor day. Price trades below the low of the range.]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out the high - automatically my bias is bearish.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out the low - automatically my bias is bullish.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here, the low goes.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I'm a buyer.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know how that sounds.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went down.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I'm buying.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 me justify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doesn't move randomly.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moves to collect orders.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buyer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has to be a seller.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when price dips below that low —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selling down there?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selling the breakdown.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selling the breakdown.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with a stop under the low.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 just retail.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 triggers at once.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is the point of the move.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takes the sell side first.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takes the sell side first.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can trade to the buy side.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[Let it run. Breaks the low, everything says sell, then it reverses and runs the other way.]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the low.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 your screen says sell.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it turns and runs the whole way to the other end.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think how many of your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trades that just explained.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low. It went up.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low. It went up.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bought the high. It went down.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getting unlucky.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getting unlucky.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misaligned to the market.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times out of 10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become the liquidity.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last thing on this.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both sides get taken.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 trade the direction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last one.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side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market's finished with.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end is where it's going.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your bias.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didn't decide anything.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handed it to you.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didn't have to think.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inner box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enough on its own.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outer box?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dealing range?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has to get taken as well.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Then the dealing range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has to go too.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level getting taken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mean it moves your way.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levels in sequence is the market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clearing the way before it moves.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[Same chart. TBR high taken first. Then price runs the dealing range high. Mark both in order.]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the high of my time based range going.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inner box.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you don't just sell blindly there.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wait for the market to run above the extreme of the dealing range as well.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outer box.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it runs that high, then you can trust selling setups.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levels swept. Not one.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difference between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setup and a guess.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you know where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headed.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opposing end.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 the opposing end. Then point back at the daily and weekly pools from step 1.]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one side, trade to the other side.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trade.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it's never a random level… those pools you marked in step 1 are sitting right there.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think about what just changed.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Spike. You buy. It reverses.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flip. It reverses again.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doesn't happen to you anymore.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 because you got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disciplined.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there's nothing left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decide in that moment.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already got made.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touched the mouse.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make sense?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a yes in the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where are we now.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2 boxes.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2 boxes.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direction — handed to you.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2 boxes.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direction — handed to you.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your target.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one thing missing.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you're a buyer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isn't a trade.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to actually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somewhere.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the problem.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now, on your screen,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still falling.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how do you know when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actually finished falling?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you enter the trade?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step 3.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buy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9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where we are.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</a:t>
            </a:r>
            <a:endParaRPr lang="en-US" sz="9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range low went.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dealing range low went.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wants to go up.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9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problem.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9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[Anchor day. Freeze it the moment the low is taken, mid-drop. Don't show what happens next.]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now, on my screen, it is still going down.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know it's going up… And it's falling in front of me.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buy here I get stopped out, and then it goes up without me.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9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step 3 is one job.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9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moment it actually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going down.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9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there are only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questions in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</a:t>
            </a:r>
            <a:endParaRPr lang="en-US" sz="9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Has it turned yet?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9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Has it turned yet?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Where exactly do I buy?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</a:t>
            </a:r>
            <a:endParaRPr lang="en-US" sz="9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Has it turned yet?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9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know when something stops…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</a:t>
            </a:r>
            <a:endParaRPr lang="en-US" sz="9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know when something stops…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know what it looks like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it's still going.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in a clear drop. Point at each down-close candle in sequence.]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close candle. Then another one lower. Then another one lower.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a market's falling, every candle keeps closing below the last. That's what falling is.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9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turn is when that stops.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9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[Three consecutive down-close candles, then one that closes above all three. Box the three, arrow the fourth.]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down close candles — there, there, there.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this one closes above all three of them.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candle just undid three. The thing that was happening has stopped happening.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call this my three candle rotation. That's delivery being shifted.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</a:t>
            </a:r>
            <a:endParaRPr lang="en-US" sz="9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want a second opinion.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bigger timeframe.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 minute chart can lie to you.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9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[Hourly chart. Three candles. Mark left, middle, right.]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3 hourly candles in a row.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one is the one that dips down and takes the liquidity.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third closes back above the middle.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swing low. The hour agrees.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the 9am candle takes the level and the 10am closes back inside… what should the 11am do?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go up. And that's exactly what it does.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9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3 candle swing structure.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for your direction.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</a:t>
            </a:r>
            <a:endParaRPr lang="en-US" sz="9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where you buy.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9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where you buy.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you buying is worth doing.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</a:t>
            </a:r>
            <a:endParaRPr lang="en-US" sz="9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your hourly candles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your daily candles…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whole new world opens up.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9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Where exactly do I buy?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9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it's turned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isn't a price.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</a:t>
            </a:r>
            <a:endParaRPr lang="en-US" sz="9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a spot to enter.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9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got 2.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them together.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9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is the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block made in liquidity.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9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leg into the sweep. 4 candles. Point at each in turn, then land on the one that took the level.]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that one. Not that one. Not that one. This one.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one? Because this is the candle that traded into the liquidity below the low — and then we closed back above it.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candle that took everyone's stops. The one the algorithm used to do the job.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its body is my level. And here's what people get wrong: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buy when it closes. I buy when price comes back to it.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9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candle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just a candle.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9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candle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just a candle.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one did something.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</a:t>
            </a:r>
            <a:endParaRPr lang="en-US" sz="9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is the inverse gap.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</a:t>
            </a:r>
            <a:endParaRPr lang="en-US" sz="9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[Same leg. The gap where price moved fast. Then price returning into it and failing to continue.]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price moves fast it skips levels. It leaves a hole. That's a gap.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that genuinely wants to keep falling will come back into that hole and carry on down.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Watch. It comes back into it. And it doesn't carry on. It stops.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tried to go one way and it couldn't. That failure is the signal.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forms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liquidity pool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very high probability.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9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[Both marked on the same spot — OB body and the inverted gap overlapping.]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block made in liquidity. Inverse gap. Same place.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entry functions coming together…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where I'm buying.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9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your entry.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</a:t>
            </a:r>
            <a:endParaRPr lang="en-US" sz="9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to be honest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something.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9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is the part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obsesses over.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endParaRPr lang="en-US" sz="9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you came here for.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9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it's the least important thing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shown you today.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9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you've eliminated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direction…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get easy.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9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find one.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always one.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9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make sense?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a yes in the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9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look at where you are now.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</a:t>
            </a:r>
            <a:endParaRPr lang="en-US" sz="9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boxes. A direction. A target.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a price.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9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in.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</a:t>
            </a:r>
            <a:endParaRPr lang="en-US" sz="9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for the first time today…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money on the line.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</a:t>
            </a:r>
            <a:endParaRPr lang="en-US" sz="9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where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actually gets hard.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</a:t>
            </a:r>
            <a:endParaRPr lang="en-US" sz="9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analysing anymore.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holding.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</a:t>
            </a:r>
            <a:endParaRPr lang="en-US" sz="9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is moving.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your account is moving with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</a:t>
            </a:r>
            <a:endParaRPr lang="en-US" sz="9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everyone here knows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</a:t>
            </a:r>
            <a:endParaRPr lang="en-US" sz="9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properly up on the trade…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9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properly up on the trade…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watch it come all the way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where you got in.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don't close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9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don't close it.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you keep telling yourself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about to turn around.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9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finish the day flat.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trade you got completely right.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</a:t>
            </a:r>
            <a:endParaRPr lang="en-US" sz="9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worst feeling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business.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9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idea.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show for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9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step 4 is about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out properly.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9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stop goes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you're even in.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9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stop goes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you're even in.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move 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</a:t>
            </a:r>
            <a:endParaRPr lang="en-US" sz="9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stop goes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you're even in.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move it.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where you take the money.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9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 decided in advance.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9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you're not making those calls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watch your account move.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</a:t>
            </a:r>
            <a:endParaRPr lang="en-US" sz="9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step 4.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9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decides whether today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made you any money.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</a:t>
            </a:r>
            <a:endParaRPr lang="en-US" sz="9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9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get out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9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in.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9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step is shorter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you think.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</a:t>
            </a:r>
            <a:endParaRPr lang="en-US" sz="9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you already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target.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</a:t>
            </a:r>
            <a:endParaRPr lang="en-US" sz="9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marked it in step 2.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opposing end of the range.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9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this step is one thing: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 on the way there.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9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I'll show you why it matters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worst day I've ever had.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-$8,580 day. P&amp;L first. Sit on it. Then the chart.]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$8,580. One day. Gone.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got in. I set my stop. And I failed to set a take profit.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alert went off, I came back — and it had hit my target and come all the way back through my stop.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human error. We move on.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 was right. The system was right. I was wrong.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never fails me. If I lose, I failed the system.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</a:t>
            </a:r>
            <a:endParaRPr lang="en-US" sz="9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I do now.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things.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</a:t>
            </a:r>
            <a:endParaRPr lang="en-US" sz="9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Stop goes below the swept 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</a:t>
            </a:r>
            <a:endParaRPr lang="en-US" sz="9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Stop goes below the swept low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 market grades itself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25, 50, 75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9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Stop goes below the swept low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 market grades itself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25, 50, 75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 Take the money and get out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</a:t>
            </a:r>
            <a:endParaRPr lang="en-US" sz="9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 Your stop goes below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 that just got swept.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</a:t>
            </a:r>
            <a:endParaRPr lang="en-US" sz="9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low if you're buying.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high if you're selling.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if price goes back through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level it just cleared…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…the reason you're in has gone.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</a:t>
            </a:r>
            <a:endParaRPr lang="en-US" sz="9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 Then the market grades itself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way to your target.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</a:t>
            </a:r>
            <a:endParaRPr lang="en-US" sz="9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[Graded price swing on the anchor day. 25, 50, 75 marked. Walk a trade through, calling each level as price crosses.]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25 — sentiment's beginning to shift, buyers are stepping in. That's my confirmation.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50 — the market has no need to return back to 25. That's where I move to break even.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to 75 — that's where I'm taking money off.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once it closes at 75, that's exactly where it should rally into the opposing end.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9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 Take the money and get out.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</a:t>
            </a:r>
            <a:endParaRPr lang="en-US" sz="9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days I'm not waiting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of that.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</a:t>
            </a:r>
            <a:endParaRPr lang="en-US" sz="9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easiest target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opposing end.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9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make my money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get out.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</a:t>
            </a:r>
            <a:endParaRPr lang="en-US" sz="9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10 to 15 minutes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9:30 open.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</a:t>
            </a:r>
            <a:endParaRPr lang="en-US" sz="9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in and price is still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at your entry?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Something's wrong.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9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ever goes broke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profit.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</a:t>
            </a:r>
            <a:endParaRPr lang="en-US" sz="9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ever goes broke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profit.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go broke taking losses.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9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thing.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9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real trading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</a:t>
            </a:r>
            <a:endParaRPr lang="en-US" sz="9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might get stopped out anyway.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happens to me.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9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2 trades in the same direction.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9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they're both wrong,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just wrong on the day.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back tomorrow.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</a:t>
            </a:r>
            <a:endParaRPr lang="en-US" sz="9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cost of doing business.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</a:t>
            </a:r>
            <a:endParaRPr lang="en-US" sz="9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FFF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run: February $27,000 · March $56,000 · April $19,000. Then the Apex account separately.]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February, March, April — $27,000, then $56,000, then $19,000.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$200,000 of trading, trading two timebased range windows.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separately, on the Apex end-of-day account, $30,000 in 15 trading days.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9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bad day inside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process…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just a bad day.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9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the whole system.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</a:t>
            </a:r>
            <a:endParaRPr lang="en-US" sz="9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know what some of you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thinking right now.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felt like a lot.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251</a:t>
            </a:r>
            <a:endParaRPr lang="en-US" sz="9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Boxes. Sweeps. Rotations.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blocks. Levels.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</a:t>
            </a:r>
            <a:endParaRPr lang="en-US" sz="9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am I supposed to hold all that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my head at 9:30 in the morning?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</a:t>
            </a:r>
            <a:endParaRPr lang="en-US" sz="9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 me take that worry off you.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</a:t>
            </a:r>
            <a:endParaRPr lang="en-US" sz="9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doing 4 things.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doing 1 thing.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9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real time, all 4 steps happen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about 12 minutes.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9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 the same order.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day.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</a:t>
            </a:r>
            <a:endParaRPr lang="en-US" sz="9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feels like a lot because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pulled it apart in slow motion.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258</a:t>
            </a:r>
            <a:endParaRPr lang="en-US" sz="9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make sense?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a yes in the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9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we're doing now.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</a:t>
            </a:r>
            <a:endParaRPr lang="en-US" sz="9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you have never seen before.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</a:t>
            </a:r>
            <a:endParaRPr lang="en-US" sz="9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to finish.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normal speed.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endParaRPr lang="en-US" sz="9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Range. Bias. Entry. Exit.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9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see what it looks like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just being traded.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</a:t>
            </a:r>
            <a:endParaRPr lang="en-US" sz="9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3 other trades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same week.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</a:t>
            </a:r>
            <a:endParaRPr lang="en-US" sz="9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see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repeatable it actually is.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</a:t>
            </a:r>
            <a:endParaRPr lang="en-US" sz="9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4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TRADE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</a:t>
            </a:r>
            <a:endParaRPr lang="en-US" sz="9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 on one chart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268</a:t>
            </a:r>
            <a:endParaRPr lang="en-US" sz="9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STEP 5 — to write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269</Slides>
  <Notes>269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269</vt:i4>
      </vt:variant>
    </vt:vector>
  </HeadingPairs>
  <TitlesOfParts>
    <vt:vector size="2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DTR Content Section - internal</dc:title>
  <dc:subject>PptxGenJS Presentation</dc:subject>
  <dc:creator>Day Trading Rauf</dc:creator>
  <cp:lastModifiedBy>Day Trading Rauf</cp:lastModifiedBy>
  <cp:revision>1</cp:revision>
  <dcterms:created xsi:type="dcterms:W3CDTF">2026-08-21T16:03:55Z</dcterms:created>
  <dcterms:modified xsi:type="dcterms:W3CDTF">2026-08-21T16:03:55Z</dcterms:modified>
</cp:coreProperties>
</file>