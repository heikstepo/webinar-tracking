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</p:sldIdLst>
  <p:notesMasterIdLst>
    <p:notesMasterId r:id="rId26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notesMaster" Target="notesMasters/notesMaster1.xml"/><Relationship Id="rId263" Type="http://schemas.openxmlformats.org/officeDocument/2006/relationships/presProps" Target="presProps.xml"/><Relationship Id="rId264" Type="http://schemas.openxmlformats.org/officeDocument/2006/relationships/viewProps" Target="viewProps.xml"/><Relationship Id="rId265" Type="http://schemas.openxmlformats.org/officeDocument/2006/relationships/theme" Target="theme/theme1.xml"/><Relationship Id="rId26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2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0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1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2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3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4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5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6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7.xml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8.xml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9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88136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 STEPS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 THE TIME BASED RANGES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you mark your levels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 THE TIME BASED RANGES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you mark your levels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 THE BIAS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way you're trading today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 THE TIME BASED RANGES</a:t>
            </a:r>
            <a:endParaRPr lang="en-US" sz="3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you mark your levels</a:t>
            </a:r>
            <a:endParaRPr lang="en-US" sz="39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3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 THE BIAS</a:t>
            </a:r>
            <a:endParaRPr lang="en-US" sz="3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way you're trading today</a:t>
            </a:r>
            <a:endParaRPr lang="en-US" sz="39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3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 THE ENTRY</a:t>
            </a:r>
            <a:endParaRPr lang="en-US" sz="3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you buy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 THE TIME BASED RANGES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 THE BIAS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 THE ENTRY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 THE EXIT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you get out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 THE TIME BASED RANGES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 THE BIAS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 THE ENTRY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 THE EXIT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 ONE FULL TRADE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of it on one chart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88136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4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TIME BASED RANGES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mark before the open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is by far the most important part of my strategy.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inconsistent traders I talk to aren't bad at trading.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inconsistent traders I talk to aren't bad at trading.</a:t>
            </a:r>
            <a:endParaRPr lang="en-US" sz="28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timing is just wrong.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that's actually a good thing.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that one problem, and you only trade at certain times of the day.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more sitting there for hours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for a pattern to form.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get in at the same time every single day.</a:t>
            </a:r>
            <a:endParaRPr lang="en-US" sz="36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3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analyse. You wait for your bias.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something in that window?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trade, and you're out fast.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something in that window?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trade, and you're out fast.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nothing?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don't trade, and you're out fast.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takes the thinking out of it.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charts inside that 1 hour window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you exactly what to do.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let's get into what those windows are</a:t>
            </a:r>
            <a:endParaRPr lang="en-US" sz="4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how to mark them.</a:t>
            </a:r>
            <a:endParaRPr lang="en-US" sz="41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— I've got a number of time based ranges.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I'm going to leak 2 of them.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I'm going to leak 2 of them.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for New York. One for London.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rest are reserved for my private students,</a:t>
            </a:r>
            <a:endParaRPr lang="en-US" sz="3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they sign an NDA.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every single one of them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sits inside a specific dealing range.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before I give you the times,</a:t>
            </a:r>
            <a:endParaRPr lang="en-US" sz="3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have to show you how I identify a dealing range.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dealing range is the space between</a:t>
            </a:r>
            <a:endParaRPr lang="en-US" sz="4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significant swing high and a swing low.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 swing high or a swing low</a:t>
            </a:r>
            <a:endParaRPr lang="en-US" sz="3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means a point where the market turned around.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4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pc="2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LIVE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280160" y="13258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[Chart with a clear swing high and swing low. Mark both.]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280160" y="2011680"/>
            <a:ext cx="9601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— this was the low that pushed the market higher.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this was the high that pushed the market lower.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a line at each.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Automatically, that becomes a range to the market.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it. Super easy.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why does that matter?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of what sits above and below those 2 lines.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Liquidity is just resting orders.</a:t>
            </a:r>
            <a:endParaRPr lang="en-US" sz="43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Money sat there waiting to get filled.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that high is where breakout buyers are waiting.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that high is where breakout buyers are waiting.</a:t>
            </a:r>
            <a:endParaRPr lang="en-US" sz="31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3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that low is where breakdown sellers are.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moment you draw those 2 lines,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know where the money is parked.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it doesn't tell you WHEN anything happens.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it doesn't tell you WHEN anything happens.</a:t>
            </a:r>
            <a:endParaRPr lang="en-US" sz="35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3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box could be days wide.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next thing we mark is our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Based Ranges.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inner box.</a:t>
            </a:r>
            <a:endParaRPr lang="en-US" sz="43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this one is about time, not price.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LONDON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1:12 – 2:12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YORK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8:12 – 9:12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Eastern Standard Time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I'll work in New York today,</a:t>
            </a:r>
            <a:endParaRPr lang="en-US" sz="3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that's the one most of you can be awake for.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4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pc="2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LIVE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280160" y="13258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[Same chart. Drop the 8:12-9:12 box inside the dealing range. Mark its high and low.]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280160" y="2011680"/>
            <a:ext cx="9601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8:12 it starts.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9:12 it's done.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there.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there.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more lines.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your time based range.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here's the rule that connects the 2 boxes.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want to see my time based range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inside the dealing range.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want to see my time based range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inside the dealing range.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it hasn't, I'm not interested.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if my hour formed somewhere</a:t>
            </a:r>
            <a:endParaRPr lang="en-US" sz="4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has already been and moved past…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…then there's nothing left sitting there</a:t>
            </a:r>
            <a:endParaRPr lang="en-US" sz="4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the market to go and collect.</a:t>
            </a:r>
            <a:endParaRPr lang="en-US" sz="41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Makes sense?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a yes in the chat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now you've got a box inside a box.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one tells you where the market cares.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one tells you where the market cares.</a:t>
            </a:r>
            <a:endParaRPr lang="en-US" sz="35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3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small one tells you when it's going to act.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what neither of them tells you is:</a:t>
            </a:r>
            <a:endParaRPr lang="en-US" sz="43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is the market actually going?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step 2.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88136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4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BIAS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way you're trading today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we've got our 2 boxes.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tell us where the orders are,</a:t>
            </a:r>
            <a:endParaRPr lang="en-US" sz="3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when the market's going to go for them.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they don't tell us yet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which way we're trading.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this is the part everyone assumes is the hard part.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you think you have to predict it.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news.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a few higher timeframes.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an opinion.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hope you're right.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Here's what that actually looks like on a normal day.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spikes. You buy.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reverses. Stops you out.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spikes. You buy.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reverses. Stops you out.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you flip and sell.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it reverses again.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Anyone done that?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it in the chat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Right. All of us.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that's not a discipline problem.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making the biggest decision of your entire day</a:t>
            </a:r>
            <a:endParaRPr lang="en-US" sz="3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most violent 30 seconds of the session…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…with nothing in front of you to base it on.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makes a good decision in that state.</a:t>
            </a:r>
            <a:endParaRPr lang="en-US" sz="38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3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Nobody.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here's the good news.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this is the part that took the pressure off me completely.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don't have to predict anything.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before this market can make a real move</a:t>
            </a:r>
            <a:endParaRPr lang="en-US" sz="3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either direction, it has to do one thing first.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to go and collect the orders sat on one side.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EXPLAIN WHY — to write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you already know exactly where those orders are.</a:t>
            </a:r>
            <a:endParaRPr lang="en-US" sz="31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3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marked them in step 1.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you're not predicting anymore.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</a:t>
            </a:r>
            <a:endParaRPr lang="en-US" sz="9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is about to walk into one of your boxes.</a:t>
            </a:r>
            <a:endParaRPr lang="en-US" sz="32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you have to do is see which side it goes for.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your direction.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it gets handed to you.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section you'll sit down at 9:29 tomorrow,</a:t>
            </a:r>
            <a:endParaRPr lang="en-US" sz="2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one thing happen…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</a:t>
            </a:r>
            <a:endParaRPr lang="en-US" sz="9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…and know whether you're a buyer or a seller today.</a:t>
            </a:r>
            <a:endParaRPr lang="en-US" sz="32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an actual reason behind it.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things have to happen.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they happen in this order.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 One side of your time based range gets taken</a:t>
            </a:r>
            <a:endParaRPr lang="en-US" sz="3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that's your bias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 One side of your time based range gets taken</a:t>
            </a:r>
            <a:endParaRPr lang="en-US" sz="3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that's your bias</a:t>
            </a:r>
            <a:endParaRPr lang="en-US" sz="35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3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 Then the dealing range extreme has to go too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 One side gets taken,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that's your bias.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start with the inner box,</a:t>
            </a:r>
            <a:endParaRPr lang="en-US" sz="3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that's the one that gets hit first.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9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4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pc="2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LIVE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280160" y="13258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[Anchor day. Price trades below the low of the range.]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280160" y="2011680"/>
            <a:ext cx="9601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take out the high - automatically my bias is bearish.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take out the low - automatically my bias is bullish.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here, the low goes.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means I'm a buyer.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</a:t>
            </a:r>
            <a:endParaRPr lang="en-US" sz="9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 know exactly how that sounds.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9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went down, and I'm buying.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</a:t>
            </a:r>
            <a:endParaRPr lang="en-US" sz="9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let me justify it,</a:t>
            </a:r>
            <a:endParaRPr lang="en-US" sz="3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it's the thing that changed trading for me.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doesn't move randomly.</a:t>
            </a:r>
            <a:endParaRPr lang="en-US" sz="35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3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moves to collect liquidity and pair orders.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</a:t>
            </a:r>
            <a:endParaRPr lang="en-US" sz="9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every buyer there has to be a seller.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when price dips below that low —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who's selling down there?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taught to sell the breakdown.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</a:t>
            </a:r>
            <a:endParaRPr lang="en-US" sz="9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taught to sell the breakdown.</a:t>
            </a:r>
            <a:endParaRPr lang="en-US" sz="42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with a stop sat under the low.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endParaRPr lang="en-US" sz="9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not just retail.</a:t>
            </a:r>
            <a:endParaRPr lang="en-US" sz="29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Institutional breakout traders putting large orders out,</a:t>
            </a:r>
            <a:endParaRPr lang="en-US" sz="2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anticipating continuation.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</a:t>
            </a:r>
            <a:endParaRPr lang="en-US" sz="9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of it triggers at once.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that is the point of the move.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</a:t>
            </a:r>
            <a:endParaRPr lang="en-US" sz="9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Those sell orders are what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buy orders get paired with.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9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has to take the sell side first.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</a:t>
            </a:r>
            <a:endParaRPr lang="en-US" sz="9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has to take the sell side first.</a:t>
            </a:r>
            <a:endParaRPr lang="en-US" sz="38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3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it can trade to the buy side.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</a:t>
            </a:r>
            <a:endParaRPr lang="en-US" sz="9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4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pc="2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LIVE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280160" y="13258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[Let it run. Breaks the low, everything says sell, then it reverses and runs the other way.]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280160" y="2011680"/>
            <a:ext cx="9601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Takes the low.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on your screen says sell.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then it turns and runs the whole way to the other end.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</a:t>
            </a:r>
            <a:endParaRPr lang="en-US" sz="9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think about how many of your losing trades</a:t>
            </a:r>
            <a:endParaRPr lang="en-US" sz="3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just explained.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</a:t>
            </a:r>
            <a:endParaRPr lang="en-US" sz="9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sold the low. It went up.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</a:t>
            </a:r>
            <a:endParaRPr lang="en-US" sz="9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sold the low. It went up.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bought the high. It went down.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</a:t>
            </a:r>
            <a:endParaRPr lang="en-US" sz="9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not getting unlucky.</a:t>
            </a:r>
            <a:endParaRPr lang="en-US" sz="39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3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basically misaligned to the market.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</a:t>
            </a:r>
            <a:endParaRPr lang="en-US" sz="9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don't understand where liquidity is being generated,</a:t>
            </a:r>
            <a:endParaRPr lang="en-US" sz="27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times out of 10 you are going to become the liquidity.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</a:t>
            </a:r>
            <a:endParaRPr lang="en-US" sz="9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last thing on this.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</a:t>
            </a:r>
            <a:endParaRPr lang="en-US" sz="9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Sometimes both sides of my time based range get taken.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</a:t>
            </a:r>
            <a:endParaRPr lang="en-US" sz="9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that happens,</a:t>
            </a:r>
            <a:endParaRPr lang="en-US" sz="4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trade the direction of the last one.</a:t>
            </a:r>
            <a:endParaRPr lang="en-US" sz="41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</a:t>
            </a:r>
            <a:endParaRPr lang="en-US" sz="9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whichever side went last</a:t>
            </a:r>
            <a:endParaRPr lang="en-US" sz="3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one the market cleared most recently.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</a:t>
            </a:r>
            <a:endParaRPr lang="en-US" sz="9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the side it's finished with.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other end is where it's going.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</a:t>
            </a:r>
            <a:endParaRPr lang="en-US" sz="9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that's your bias.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</a:t>
            </a:r>
            <a:endParaRPr lang="en-US" sz="9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notice — you didn't decide anything.</a:t>
            </a:r>
            <a:endParaRPr lang="en-US" sz="41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handed it to you.</a:t>
            </a:r>
            <a:endParaRPr lang="en-US" sz="41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</a:t>
            </a:r>
            <a:endParaRPr lang="en-US" sz="9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didn't have to think.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</a:t>
            </a:r>
            <a:endParaRPr lang="en-US" sz="9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the inner box on its own isn't enough.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117</a:t>
            </a:r>
            <a:endParaRPr lang="en-US" sz="9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 the outer box, the one we drew first?</a:t>
            </a:r>
            <a:endParaRPr lang="en-US" sz="35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3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dealing range?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</a:t>
            </a:r>
            <a:endParaRPr lang="en-US" sz="9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has to get taken as well.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</a:t>
            </a:r>
            <a:endParaRPr lang="en-US" sz="9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 Then the dealing range extreme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 to go too.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9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level getting taken doesn't necessarily mean</a:t>
            </a:r>
            <a:endParaRPr lang="en-US" sz="3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moves in our favour.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</a:t>
            </a:r>
            <a:endParaRPr lang="en-US" sz="9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levels getting taken in sequence is the market</a:t>
            </a:r>
            <a:endParaRPr lang="en-US" sz="3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clearing everything out of the way before it moves.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122</a:t>
            </a:r>
            <a:endParaRPr lang="en-US" sz="9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4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pc="2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LIVE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280160" y="13258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[Same chart. TBR high taken first. Then price runs the dealing range high. Mark both in order.]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280160" y="2011680"/>
            <a:ext cx="9601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There's the high of my time based range going.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the inner box.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— you don't just sell blindly there.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wait for the market to run above the extreme of the dealing range as well.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outer box.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it runs that high, then you can trust selling setups.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</a:t>
            </a:r>
            <a:endParaRPr lang="en-US" sz="9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levels swept, not one.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124</a:t>
            </a:r>
            <a:endParaRPr lang="en-US" sz="90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the difference between a setup and a guess.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</a:t>
            </a:r>
            <a:endParaRPr lang="en-US" sz="9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once both have gone,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also know where you're headed.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126</a:t>
            </a:r>
            <a:endParaRPr lang="en-US" sz="9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opposing end.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</a:t>
            </a:r>
            <a:endParaRPr lang="en-US" sz="9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FF4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pc="2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LIVE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280160" y="13258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[Mark the opposing end. Then point back at the daily and weekly pools from step 1.]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280160" y="2011680"/>
            <a:ext cx="9601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Sweep one side, trade to the other side.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the trade.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it's never a random level… those pools you marked in step 1 are sitting right there.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</a:t>
            </a:r>
            <a:endParaRPr lang="en-US" sz="9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think about what just changed.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129</a:t>
            </a:r>
            <a:endParaRPr lang="en-US" sz="9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thing I described at the start.</a:t>
            </a:r>
            <a:endParaRPr lang="en-US" sz="28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Spike, you buy, it reverses, you flip, it reverses again.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</a:t>
            </a:r>
            <a:endParaRPr lang="en-US" sz="9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doesn't happen to you anymore.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</a:t>
            </a:r>
            <a:endParaRPr lang="en-US" sz="9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not because you suddenly got more disciplined.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</a:t>
            </a:r>
            <a:endParaRPr lang="en-US" sz="9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there's nothing left to decide in that moment.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133</a:t>
            </a:r>
            <a:endParaRPr lang="en-US" sz="9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decision already got made.</a:t>
            </a:r>
            <a:endParaRPr lang="en-US" sz="36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3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it got made before you touched the mouse.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134</a:t>
            </a:r>
            <a:endParaRPr lang="en-US" sz="9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that make sense?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me a yes in the chat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</a:t>
            </a:r>
            <a:endParaRPr lang="en-US" sz="9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where are we now.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</a:t>
            </a:r>
            <a:endParaRPr lang="en-US" sz="90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You've got your 2 boxes from step 1.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</a:t>
            </a:r>
            <a:endParaRPr lang="en-US" sz="9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You've got your 2 boxes from step 1.</a:t>
            </a:r>
            <a:endParaRPr lang="en-US" sz="29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You've got your direction — handed to you, not guessed.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138</a:t>
            </a:r>
            <a:endParaRPr lang="en-US" sz="90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You've got your 2 boxes from step 1.</a:t>
            </a:r>
            <a:endParaRPr lang="en-US" sz="29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You've got your direction — handed to you, not guessed.</a:t>
            </a:r>
            <a:endParaRPr lang="en-US" sz="29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you've got your target.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</a:t>
            </a:r>
            <a:endParaRPr lang="en-US" sz="9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There's one thing missing.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</a:t>
            </a:r>
            <a:endParaRPr lang="en-US" sz="90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price.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141</a:t>
            </a:r>
            <a:endParaRPr lang="en-US" sz="900" dirty="0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knowing you're a buyer still isn't a trade.</a:t>
            </a:r>
            <a:endParaRPr lang="en-US" sz="32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have to actually get in somewhere.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</a:t>
            </a:r>
            <a:endParaRPr lang="en-US" sz="9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here's the problem.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</a:t>
            </a:r>
            <a:endParaRPr lang="en-US" sz="90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now, on your screen, it is still falling.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144</a:t>
            </a:r>
            <a:endParaRPr lang="en-US" sz="90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how do you know when it's actually finished falling?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145</a:t>
            </a:r>
            <a:endParaRPr lang="en-US" sz="90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do you enter the trade?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146</a:t>
            </a:r>
            <a:endParaRPr lang="en-US" sz="90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step 3.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147</a:t>
            </a:r>
            <a:endParaRPr lang="en-US" sz="900" dirty="0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88136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4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ENTRY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148</a:t>
            </a:r>
            <a:endParaRPr lang="en-US" sz="900" dirty="0"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you buy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149</a:t>
            </a:r>
            <a:endParaRPr lang="en-US" sz="900" dirty="0"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here's where we are.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900" dirty="0"/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range low went.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dealing range low went.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wants to go up.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151</a:t>
            </a:r>
            <a:endParaRPr lang="en-US" sz="900" dirty="0"/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Here's the problem.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</a:t>
            </a:r>
            <a:endParaRPr lang="en-US" sz="900" dirty="0"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FFF4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pc="2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LIVE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280160" y="13258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[Anchor day. Freeze it the moment the low is taken, mid-drop. Don't show what happens next.]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280160" y="2011680"/>
            <a:ext cx="9601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now, on my screen, it is still going down.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know it's going up… And it's falling in front of me.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I buy here I get stopped out, and then it goes up without me.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153</a:t>
            </a:r>
            <a:endParaRPr lang="en-US" sz="900" dirty="0"/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step 3 is one job.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154</a:t>
            </a:r>
            <a:endParaRPr lang="en-US" sz="900" dirty="0"/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the moment it actually stops going down</a:t>
            </a:r>
            <a:endParaRPr lang="en-US" sz="3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starts going up.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155</a:t>
            </a:r>
            <a:endParaRPr lang="en-US" sz="900" dirty="0"/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for that we only need to answer 2 questions.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</a:t>
            </a:r>
            <a:endParaRPr lang="en-US" sz="900" dirty="0"/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 Has it turned yet?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157</a:t>
            </a:r>
            <a:endParaRPr lang="en-US" sz="900" dirty="0"/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 Has it turned yet?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 Where exactly do I buy?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158</a:t>
            </a:r>
            <a:endParaRPr lang="en-US" sz="900" dirty="0"/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 Has it turned yet?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159</a:t>
            </a:r>
            <a:endParaRPr lang="en-US" sz="900" dirty="0"/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know when something stops,</a:t>
            </a:r>
            <a:endParaRPr lang="en-US" sz="2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first have to know what it looks like while it's still going.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</a:t>
            </a:r>
            <a:endParaRPr lang="en-US" sz="900" dirty="0"/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FFF4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pc="2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LIVE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280160" y="13258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[Chart in a clear drop. Point at each down-close candle in sequence.]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280160" y="2011680"/>
            <a:ext cx="9601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 close candle. Then another one lower. Then another one lower.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a market's falling, every candle keeps closing below the last. That's what falling is.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161</a:t>
            </a:r>
            <a:endParaRPr lang="en-US" sz="900" dirty="0"/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turn is when that stops.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162</a:t>
            </a:r>
            <a:endParaRPr lang="en-US" sz="900" dirty="0"/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FFF4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pc="2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LIVE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280160" y="13258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[Three consecutive down-close candles, then one that closes above all three. Box the three, arrow the fourth.]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280160" y="2011680"/>
            <a:ext cx="9601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down close candles — there, there, there.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then this one closes above all three of them.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candle just undid three. The thing that was happening has stopped happening.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call this my three candle rotation. That's delivery being shifted.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163</a:t>
            </a:r>
            <a:endParaRPr lang="en-US" sz="900" dirty="0"/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I want a second opinion,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bigger timeframe.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164</a:t>
            </a:r>
            <a:endParaRPr lang="en-US" sz="900" dirty="0"/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5 minute chart can lie to you.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165</a:t>
            </a:r>
            <a:endParaRPr lang="en-US" sz="900" dirty="0"/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FFF4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pc="2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LIVE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280160" y="13258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[Hourly chart. Three candles. Mark left, middle, right.]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280160" y="2011680"/>
            <a:ext cx="9601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3 hourly candles in a row.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middle one is the one that dips down and takes the liquidity.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the third closes back above the middle.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a swing low. The hour agrees.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if the 9am candle takes the level and the 10am closes back inside… what should the 11am do?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should go up. And that's exactly what it does.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</a:t>
            </a:r>
            <a:endParaRPr lang="en-US" sz="900" dirty="0"/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the 3 candle swing structure.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confirmation for your direction.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167</a:t>
            </a:r>
            <a:endParaRPr lang="en-US" sz="900" dirty="0"/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not where you buy.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168</a:t>
            </a:r>
            <a:endParaRPr lang="en-US" sz="900" dirty="0"/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not where you buy.</a:t>
            </a:r>
            <a:endParaRPr lang="en-US" sz="39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3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what tells you buying is worth doing.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169</a:t>
            </a:r>
            <a:endParaRPr lang="en-US" sz="900" dirty="0"/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treat your hourly candles as your daily candles,</a:t>
            </a:r>
            <a:endParaRPr lang="en-US" sz="2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whole new world opens up.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170</a:t>
            </a:r>
            <a:endParaRPr lang="en-US" sz="900" dirty="0"/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 Where exactly do I buy?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171</a:t>
            </a:r>
            <a:endParaRPr lang="en-US" sz="900" dirty="0"/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Knowing it's turned still isn't a price.</a:t>
            </a:r>
            <a:endParaRPr lang="en-US" sz="41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need a spot to enter my trade.</a:t>
            </a:r>
            <a:endParaRPr lang="en-US" sz="41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172</a:t>
            </a:r>
            <a:endParaRPr lang="en-US" sz="900" dirty="0"/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I've got 2. And I want them together.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173</a:t>
            </a:r>
            <a:endParaRPr lang="en-US" sz="900" dirty="0"/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is the order block made in liquidity.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174</a:t>
            </a:r>
            <a:endParaRPr lang="en-US" sz="9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FFF4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pc="2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LIVE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280160" y="13258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[The leg into the sweep. 4 candles. Point at each in turn, then land on the one that took the level.]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280160" y="2011680"/>
            <a:ext cx="9601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that one. Not that one. Not that one. This one.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one? Because this is the candle that traded into the liquidity below the low — and then we closed back above it.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the candle that took everyone's stops. The one the algorithm used to do the job.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its body is my level. And here's what people get wrong: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don't buy when it closes. I buy when price comes back to it.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175</a:t>
            </a:r>
            <a:endParaRPr lang="en-US" sz="900" dirty="0"/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other candle on that chart is just a candle.</a:t>
            </a:r>
            <a:endParaRPr lang="en-US" sz="32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3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one did something.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176</a:t>
            </a:r>
            <a:endParaRPr lang="en-US" sz="900" dirty="0"/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second is the inverse gap.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177</a:t>
            </a:r>
            <a:endParaRPr lang="en-US" sz="900" dirty="0"/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FFF4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pc="2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LIVE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280160" y="13258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[Same leg. The gap where price moved fast. Then price returning into it and failing to continue.]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280160" y="2011680"/>
            <a:ext cx="9601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price moves fast it skips levels. It leaves a hole. That's a gap.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market that genuinely wants to keep falling will come back into that hole and carry on down.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Watch. It comes back into it. And it doesn't carry on. It stops.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tried to go one way and it couldn't. That failure is the signal.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178</a:t>
            </a:r>
            <a:endParaRPr lang="en-US" sz="900" dirty="0"/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anything that forms in a liquidity pool,</a:t>
            </a:r>
            <a:endParaRPr lang="en-US" sz="3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at one, is very high probability.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179</a:t>
            </a:r>
            <a:endParaRPr lang="en-US" sz="900" dirty="0"/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FFF4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pc="2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LIVE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280160" y="13258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[Both marked on the same spot — OB body and the inverted gap overlapping.]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280160" y="2011680"/>
            <a:ext cx="9601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block made in liquidity. Inverse gap. Same place.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entry functions coming together…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where I'm buying.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</a:t>
            </a:r>
            <a:endParaRPr lang="en-US" sz="900" dirty="0"/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that's your entry.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181</a:t>
            </a:r>
            <a:endParaRPr lang="en-US" sz="900" dirty="0"/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 want to be honest with you about something,</a:t>
            </a:r>
            <a:endParaRPr lang="en-US" sz="3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it'll save you a lot of time.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182</a:t>
            </a:r>
            <a:endParaRPr lang="en-US" sz="900" dirty="0"/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entry is the part everyone obsesses over.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183</a:t>
            </a:r>
            <a:endParaRPr lang="en-US" sz="900" dirty="0"/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what you came here for.</a:t>
            </a:r>
            <a:endParaRPr lang="en-US" sz="28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what nearly every trading video on YouTube is about.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184</a:t>
            </a:r>
            <a:endParaRPr lang="en-US" sz="900" dirty="0"/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it's the least important thing I've shown you today.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185</a:t>
            </a:r>
            <a:endParaRPr lang="en-US" sz="900" dirty="0"/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once you've eliminated one direction —</a:t>
            </a:r>
            <a:endParaRPr lang="en-US" sz="3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you know you're a buyer and not a seller —</a:t>
            </a:r>
            <a:endParaRPr lang="en-US" sz="35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3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entries get easy.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186</a:t>
            </a:r>
            <a:endParaRPr lang="en-US" sz="900" dirty="0"/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You'll find one. There's always one.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</a:t>
            </a:r>
            <a:endParaRPr lang="en-US" sz="900" dirty="0"/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that make sense?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me a yes in the chat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188</a:t>
            </a:r>
            <a:endParaRPr lang="en-US" sz="900" dirty="0"/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look at where you are now.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189</a:t>
            </a:r>
            <a:endParaRPr lang="en-US" sz="900" dirty="0"/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You've got your 2 boxes.</a:t>
            </a:r>
            <a:endParaRPr lang="en-US" sz="3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You've got your direction.</a:t>
            </a:r>
            <a:endParaRPr lang="en-US" sz="3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You've got your target.</a:t>
            </a:r>
            <a:endParaRPr lang="en-US" sz="39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3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now you've got a price, and you're in.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190</a:t>
            </a:r>
            <a:endParaRPr lang="en-US" sz="900" dirty="0"/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means for the first time today,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you've got money on the line.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191</a:t>
            </a:r>
            <a:endParaRPr lang="en-US" sz="900" dirty="0"/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this is where it actually gets hard.</a:t>
            </a:r>
            <a:endParaRPr lang="en-US" sz="41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</a:t>
            </a:r>
            <a:endParaRPr lang="en-US" sz="900" dirty="0"/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from this second onwards</a:t>
            </a:r>
            <a:endParaRPr lang="en-US" sz="3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not analysing anything. You're holding.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193</a:t>
            </a:r>
            <a:endParaRPr lang="en-US" sz="900" dirty="0"/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is moving.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your account is moving with it.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194</a:t>
            </a:r>
            <a:endParaRPr lang="en-US" sz="900" dirty="0"/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everyone in this room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knows what happens next.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</a:t>
            </a:r>
            <a:endParaRPr lang="en-US" sz="900" dirty="0"/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get properly up on the trade…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196</a:t>
            </a:r>
            <a:endParaRPr lang="en-US" sz="900" dirty="0"/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get properly up on the trade…</a:t>
            </a:r>
            <a:endParaRPr lang="en-US" sz="43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you watch it come all the way back</a:t>
            </a:r>
            <a:endParaRPr lang="en-US" sz="4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where you got in.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197</a:t>
            </a:r>
            <a:endParaRPr lang="en-US" sz="900" dirty="0"/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you don't close it.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you keep telling yourself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about to turn back around.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198</a:t>
            </a:r>
            <a:endParaRPr lang="en-US" sz="900" dirty="0"/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you finish the day flat,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 trade you got completely right.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</a:t>
            </a:r>
            <a:endParaRPr lang="en-US" sz="900" dirty="0"/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the worst feeling in this business.</a:t>
            </a:r>
            <a:endParaRPr lang="en-US" sz="39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3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idea, nothing to show for it.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</a:t>
            </a:r>
            <a:endParaRPr lang="en-US" sz="900" dirty="0"/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step 4 is about getting out properly.</a:t>
            </a:r>
            <a:endParaRPr lang="en-US" sz="41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there are 3 things to it.</a:t>
            </a:r>
            <a:endParaRPr lang="en-US" sz="41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</a:t>
            </a:r>
            <a:endParaRPr lang="en-US" sz="900" dirty="0"/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your stop goes before you're even in.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</a:t>
            </a:r>
            <a:endParaRPr lang="en-US" sz="900" dirty="0"/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your stop goes before you're even in.</a:t>
            </a:r>
            <a:endParaRPr lang="en-US" sz="30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3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you move it, so the trade can't hurt you anymore.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</a:t>
            </a:r>
            <a:endParaRPr lang="en-US" sz="900" dirty="0"/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your stop goes before you're even in.</a:t>
            </a:r>
            <a:endParaRPr lang="en-US" sz="30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3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you move it, so the trade can't hurt you anymore.</a:t>
            </a:r>
            <a:endParaRPr lang="en-US" sz="30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3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where you actually take the money off the table.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</a:t>
            </a:r>
            <a:endParaRPr lang="en-US" sz="900" dirty="0"/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of it decided in advance.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205</a:t>
            </a:r>
            <a:endParaRPr lang="en-US" sz="900" dirty="0"/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you're not making those calls</a:t>
            </a:r>
            <a:endParaRPr lang="en-US" sz="3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you're sat there watching your account move.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206</a:t>
            </a:r>
            <a:endParaRPr lang="en-US" sz="900" dirty="0"/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step 4.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207</a:t>
            </a:r>
            <a:endParaRPr lang="en-US" sz="900" dirty="0"/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it's the step that decides</a:t>
            </a:r>
            <a:endParaRPr lang="en-US" sz="3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whether today actually made you any money.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208</a:t>
            </a:r>
            <a:endParaRPr lang="en-US" sz="900" dirty="0"/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88136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</a:t>
            </a:r>
            <a:endParaRPr lang="en-US" sz="4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EXIT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209</a:t>
            </a:r>
            <a:endParaRPr lang="en-US" sz="900" dirty="0"/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you get out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210</a:t>
            </a:r>
            <a:endParaRPr lang="en-US" sz="900" dirty="0"/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in.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211</a:t>
            </a:r>
            <a:endParaRPr lang="en-US" sz="900" dirty="0"/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this step is shorter than you think,</a:t>
            </a:r>
            <a:endParaRPr lang="en-US" sz="4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you already know your target.</a:t>
            </a:r>
            <a:endParaRPr lang="en-US" sz="41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212</a:t>
            </a:r>
            <a:endParaRPr lang="en-US" sz="900" dirty="0"/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marked it in step 2.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the opposing end of the range.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213</a:t>
            </a:r>
            <a:endParaRPr lang="en-US" sz="900" dirty="0"/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this step is only about one thing: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do on the way there.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214</a:t>
            </a:r>
            <a:endParaRPr lang="en-US" sz="900" dirty="0"/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I'll show you why that matters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worst day I've ever had.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215</a:t>
            </a:r>
            <a:endParaRPr lang="en-US" sz="900" dirty="0"/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solidFill>
          <a:srgbClr val="FFF4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pc="2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LIVE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280160" y="13258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[The -$8,580 day. P&amp;L first. Sit on it. Then the chart.]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280160" y="2011680"/>
            <a:ext cx="9601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$8,580. One day. Gone.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got in. I set my stop. And I failed to set a take profit.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alert went off, I came back — and it had hit my target and come all the way back through my stop.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human error. We move on.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setup was right. The system was right. I was wrong.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 never fails me. If I lose, I failed the system.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216</a:t>
            </a:r>
            <a:endParaRPr lang="en-US" sz="900" dirty="0"/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here's what I do now.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things.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217</a:t>
            </a:r>
            <a:endParaRPr lang="en-US" sz="900" dirty="0"/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 Stop goes below the low that just got swept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218</a:t>
            </a:r>
            <a:endParaRPr lang="en-US" sz="900" dirty="0"/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 Stop goes below the low that just got swept</a:t>
            </a:r>
            <a:endParaRPr lang="en-US" sz="35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3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 Then the market grades itself — 25, 50, 75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219</a:t>
            </a:r>
            <a:endParaRPr lang="en-US" sz="900" dirty="0"/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 Stop goes below the low that just got swept</a:t>
            </a:r>
            <a:endParaRPr lang="en-US" sz="35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3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 Then the market grades itself — 25, 50, 75</a:t>
            </a:r>
            <a:endParaRPr lang="en-US" sz="35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3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 Take the money and get out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220</a:t>
            </a:r>
            <a:endParaRPr lang="en-US" sz="900" dirty="0"/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 Your stop goes below the low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just got swept.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</a:t>
            </a:r>
            <a:endParaRPr lang="en-US" sz="900" dirty="0"/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the low if you're buying.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the high if you're selling.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222</a:t>
            </a:r>
            <a:endParaRPr lang="en-US" sz="900" dirty="0"/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if price goes back through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level it just cleared…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reason you're in has gone.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223</a:t>
            </a:r>
            <a:endParaRPr lang="en-US" sz="900" dirty="0"/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 Then the market grades itself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way to your target.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224</a:t>
            </a:r>
            <a:endParaRPr lang="en-US" sz="900" dirty="0"/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solidFill>
          <a:srgbClr val="FFF4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pc="2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LIVE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280160" y="13258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[Graded price swing on the anchor day. 25, 50, 75 marked. Walk a trade through, calling each level as price crosses.]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280160" y="2011680"/>
            <a:ext cx="9601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 25 — sentiment's beginning to shift, buyers are stepping in. That's my confirmation.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 50 — the market has no need to return back to 25. That's where I move to break even.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to 75 — that's where I'm taking money off.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once it closes at 75, that's exactly where it should rally into the opposing end.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225</a:t>
            </a:r>
            <a:endParaRPr lang="en-US" sz="900" dirty="0"/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 Take the money and get out.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226</a:t>
            </a:r>
            <a:endParaRPr lang="en-US" sz="900" dirty="0"/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Honestly, most days I'm not waiting for all of that.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227</a:t>
            </a:r>
            <a:endParaRPr lang="en-US" sz="900" dirty="0"/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easiest target is the opposing end.</a:t>
            </a:r>
            <a:endParaRPr lang="en-US" sz="28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I want to make my money and get out of the market.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228</a:t>
            </a:r>
            <a:endParaRPr lang="en-US" sz="900" dirty="0"/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don't want to stay inside the market for too long.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229</a:t>
            </a:r>
            <a:endParaRPr lang="en-US" sz="900" dirty="0"/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Normally it takes around 10 to 15 minutes</a:t>
            </a:r>
            <a:endParaRPr lang="en-US" sz="4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hit take profit from the 9:30 open.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230</a:t>
            </a:r>
            <a:endParaRPr lang="en-US" sz="900" dirty="0"/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you're 30 minutes in and price is still sat at your entry —</a:t>
            </a:r>
            <a:endParaRPr lang="en-US" sz="2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something's wrong.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231</a:t>
            </a:r>
            <a:endParaRPr lang="en-US" sz="900" dirty="0"/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no one ever, and I mean ever,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goes broke taking profit.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232</a:t>
            </a:r>
            <a:endParaRPr lang="en-US" sz="900" dirty="0"/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no one ever, and I mean ever,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goes broke taking profit.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will go broke taking losses.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233</a:t>
            </a:r>
            <a:endParaRPr lang="en-US" sz="900" dirty="0"/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more thing,</a:t>
            </a:r>
            <a:endParaRPr lang="en-US" sz="3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this is what real trading looks like.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234</a:t>
            </a:r>
            <a:endParaRPr lang="en-US" sz="900" dirty="0"/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might buy that return to the OB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get stopped out anyway.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happens to me.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235</a:t>
            </a:r>
            <a:endParaRPr lang="en-US" sz="900" dirty="0"/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2 trades in the same direction.</a:t>
            </a:r>
            <a:endParaRPr lang="en-US" sz="41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you're bullish, take 2 bullish ideas.</a:t>
            </a:r>
            <a:endParaRPr lang="en-US" sz="41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236</a:t>
            </a:r>
            <a:endParaRPr lang="en-US" sz="900" dirty="0"/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they're both wrong, then you're just wrong on the day.</a:t>
            </a:r>
            <a:endParaRPr lang="en-US" sz="28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you come back tomorrow.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237</a:t>
            </a:r>
            <a:endParaRPr lang="en-US" sz="900" dirty="0"/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a cost of doing business if you take a loss.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238</a:t>
            </a:r>
            <a:endParaRPr lang="en-US" sz="900" dirty="0"/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solidFill>
          <a:srgbClr val="FFF4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pc="2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LIVE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280160" y="13258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[The run: February $27,000 · March $56,000 · April $19,000. Then the Apex account separately.]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280160" y="2011680"/>
            <a:ext cx="9601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February, March, April — $27,000, then $56,000, then $19,000.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Around $200,000 of trading, trading two timebased range windows.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separately, on the Apex end-of-day account, $30,000 in 15 trading days.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239</a:t>
            </a:r>
            <a:endParaRPr lang="en-US" sz="900" dirty="0"/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bad day inside a repeatable process</a:t>
            </a:r>
            <a:endParaRPr lang="en-US" sz="4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just a bad day.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</a:t>
            </a:r>
            <a:endParaRPr lang="en-US" sz="900" dirty="0"/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that's the whole system.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</a:t>
            </a:r>
            <a:endParaRPr lang="en-US" sz="900" dirty="0"/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 want to say something now,</a:t>
            </a:r>
            <a:endParaRPr lang="en-US" sz="3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I know what some of you are thinking.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242</a:t>
            </a:r>
            <a:endParaRPr lang="en-US" sz="900" dirty="0"/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felt like a lot.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243</a:t>
            </a:r>
            <a:endParaRPr lang="en-US" sz="900" dirty="0"/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Boxes, sweeps, rotations, order blocks, levels…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244</a:t>
            </a:r>
            <a:endParaRPr lang="en-US" sz="900" dirty="0"/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…and you're sat there wondering how you're supposed to</a:t>
            </a:r>
            <a:endParaRPr lang="en-US" sz="3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all of that in your head at 9:30 in the morning.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245</a:t>
            </a:r>
            <a:endParaRPr lang="en-US" sz="900" dirty="0"/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let me take that worry off you right now.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246</a:t>
            </a:r>
            <a:endParaRPr lang="en-US" sz="900" dirty="0"/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not going to be doing 4 things.</a:t>
            </a:r>
            <a:endParaRPr lang="en-US" sz="43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going to be doing 1 thing.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247</a:t>
            </a:r>
            <a:endParaRPr lang="en-US" sz="900" dirty="0"/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in real time,</a:t>
            </a:r>
            <a:endParaRPr lang="en-US" sz="3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4 of those steps happen inside about 12 minutes.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248</a:t>
            </a:r>
            <a:endParaRPr lang="en-US" sz="900" dirty="0"/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they happen in the same order,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single day.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249</a:t>
            </a:r>
            <a:endParaRPr lang="en-US" sz="900" dirty="0"/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only feels like a lot because I've spent the last hour</a:t>
            </a:r>
            <a:endParaRPr lang="en-US" sz="2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pulling it apart in slow motion.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900" dirty="0"/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that make sense?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me a yes in the chat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251</a:t>
            </a:r>
            <a:endParaRPr lang="en-US" sz="900" dirty="0"/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here's what we're doing now.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252</a:t>
            </a:r>
            <a:endParaRPr lang="en-US" sz="900" dirty="0"/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I'm going to put up a day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have never seen before.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253</a:t>
            </a:r>
            <a:endParaRPr lang="en-US" sz="900" dirty="0"/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I'm going to run the whole thing start to finish,</a:t>
            </a:r>
            <a:endParaRPr lang="en-US" sz="3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normal speed.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254</a:t>
            </a:r>
            <a:endParaRPr lang="en-US" sz="900" dirty="0"/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Range. Bias. Entry. Exit.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</a:t>
            </a:r>
            <a:endParaRPr lang="en-US" sz="900" dirty="0"/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you can see what it looks like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it's not being taught to you.</a:t>
            </a: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4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it's just being traded.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</a:t>
            </a:r>
            <a:endParaRPr lang="en-US" sz="900" dirty="0"/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then I'll show you 3 other trades</a:t>
            </a:r>
            <a:endParaRPr lang="en-US" sz="3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took the same week…</a:t>
            </a:r>
            <a:endParaRPr lang="en-US" sz="36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3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you can see how repeatable it actually is.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257</a:t>
            </a:r>
            <a:endParaRPr lang="en-US" sz="900" dirty="0"/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88136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5</a:t>
            </a:r>
            <a:endParaRPr lang="en-US" sz="4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FULL TRADE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258</a:t>
            </a:r>
            <a:endParaRPr lang="en-US" sz="900" dirty="0"/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of it on one chart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259</a:t>
            </a:r>
            <a:endParaRPr lang="en-US" sz="900" dirty="0"/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8813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STEP 5 — to write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260</Slides>
  <Notes>260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260</vt:i4>
      </vt:variant>
    </vt:vector>
  </HeadingPairs>
  <TitlesOfParts>
    <vt:vector size="2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DTR Content Section - internal</dc:title>
  <dc:subject>PptxGenJS Presentation</dc:subject>
  <dc:creator>Day Trading Rauf</dc:creator>
  <cp:lastModifiedBy>Day Trading Rauf</cp:lastModifiedBy>
  <cp:revision>1</cp:revision>
  <dcterms:created xsi:type="dcterms:W3CDTF">2026-08-21T15:54:10Z</dcterms:created>
  <dcterms:modified xsi:type="dcterms:W3CDTF">2026-08-21T15:54:10Z</dcterms:modified>
</cp:coreProperties>
</file>